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5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Apertura (15 s). "TerraSense mide 9 variables del suelo y del microclima y las traduce, mediante una aplicación, en alertas y recomendaciones que el productor puede ejecutar el mismo día."
Presentar al equipo y anunciar la estructura: problema, producto, economía, oferta y demanda, datos, mercado y decisión.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Anunciar el mapa de la exposición y el reparto (criterio de manejo del tiempo y organización).
Enunciar la tesis en voz alta: es el hilo conductor de toda la presentación y se retoma en la conclusión.
Ajustar nombres y tiempos si cambia la composición del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Defensa: "El problema no es solamente medir; es convertir pH, humedad o conductividad en una decisión ejecutable."
Contraste clave: el laboratorio da exactitud pero llega tarde (15-30 días); el medidor portátil llega a tiempo pero no explica nada.
Honestidad: las 175.556 explotaciones dimensionan el sector, NO son clientes confirmados. Si preguntan, decirlo de inmediato.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el flujo de izquierda a derecha: sonda -&gt; Bluetooth -&gt; app -&gt; decisión. El hardware hace lo único que el teléfono no puede hacer.
Frase de valor: "Otros equipos entregan números. TerraSense explica qué significan y qué puede hacer el usuario."
DECLARAR el límite del NPK antes de que lo pregunten: suma en pensamiento crítico y evita que parezca que se oculta.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Definir economía de mercado en una frase antes de aplicarla; el criterio pide EXPLICAR y APLICAR el concepto.
Aterrizar cada rasgo al proyecto: "el precio de $249.990 no nos lo impuso nadie, lo fijamos mirando costo, cliente y competencia".
Puente a la siguiente diapositiva: "dentro de esa economía de mercado, la estructura concreta en la que competimos es la competencia monopolística".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Justificar la elección del modelo: no es competencia perfecta (los productos no son homogéneos) ni monopolio (hay sustitutos reales).
Competencia monopolística = muchos oferentes + producto diferenciado + entrada libre + poder de precio limitado.
Cerrar señalando el hueco del mapa: nadie combina inmediatez con interpretación. Enlaza con el costo de oportunidad.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CENTRAL DEL CRITERIO 1.1.1. Enunciar el principio, definirlo y APLICARLO al proyecto.
Guion: "Elegimos deliberadamente renunciar a la exactitud analítica. Ese es nuestro costo de oportunidad. A cambio obtenemos algo que ningún competidor entrega: una aplicación que le dice al productor qué significa el número y qué hacer con él."
Cerrar con complementariedad: "TerraSense sirve para monitoreo frecuente; el laboratorio, como referencia periódica. No compiten: se complementan."
Si preguntan "¿por qué comprarlo si es menos exacto?" -&gt; porque cubren necesidades distintas: precisión puntual vs. seguimiento continuo interpretado.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la lógica de las curvas antes de los números: la demanda cae con el precio, la oferta sube con el precio.
Honestidad metodológica (suma en pensamiento crítico): el punto marcado es nuestro PLAN de precio y volumen, no un equilibrio medido en el mercado.
Anclar: a $249.990 planificamos 200 unidades y necesitamos 166 para no perder dinero. Las dos diapositivas siguientes mueven cada curva.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Precisión técnica que suma puntos: esto es un DESPLAZAMIENTO de la curva (cambia un factor distinto al precio), no un movimiento a lo largo de ella.
D1: factor = condiciones climáticas / necesidad. D2: factor = costo del error, es decir el precio de los bienes relacionados (fertilizante).
Cuantificación disponible si preguntan: el repositorio estima pérdidas de $350.000 a $1.400.000 por hectárea por errores de riego o fertilización. Aclarar que es escenario interno.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Igual que en la demanda: son DESPLAZAMIENTOS por factores distintos del precio (costo de insumos y tecnología de producción).
O1 es el riesgo principal del proyecto y hay que decirlo con seguridad: 88,6 % del BOM en dólares, holgura de +15 % en costo variable.
O2 es la oportunidad: sin molde de inyección no hay inversión hundida, por eso podemos partir con 200 unidades y no con 5.000.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qué es margen de contribución antes de dar la cifra: lo que queda de cada venta para pagar los costos fijos.
Camino del número: $210.076 de ingreso neto - $91.309 de costo variable = $118.767, equivalente al 56,5 % del ingreso.
El costo variable incluye BOM ($70.656), flete nacional, merma, provisión de garantía legal y mano de obra directa ($9.000).
Interpretar, no solo mostrar: el negocio es viable por margen, pero la holgura de volumen es moderada (20,5 %).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Explicar VAN y TIR en una frase cada uno: VAN = valor que crea el proyecto hoy descontando el riesgo; TIR = rentabilidad propia del proyecto.</a:t>
            </a:r>
          </a:p>
          <a:p>
            <a:r>
              <a:t>VAN positivo de $2.588.182 al 20 % y TIR de 22,7 %: supera la exigencia por 2,7 puntos. Payback 3,71 años, dentro del horizonte de 5.</a:t>
            </a:r>
          </a:p>
          <a:p>
            <a:r>
              <a:t>Inversión inicial: $26.548.500 (Activo nominal $4,4M, Capital de trabajo $14,8M, Contingencia $2,4M, Activo fijo $4,9M).</a:t>
            </a:r>
          </a:p>
          <a:p>
            <a:r>
              <a:t>Financiamiento: 33,5 % aporte propio de los 2 socios ($8,9M) y 66,5 % bancario con garantía FOGAPE ($12,65M LP a 5 años al 10 % y $5M línea corta al 15 %). 0 % subsidio estatal.</a:t>
            </a:r>
          </a:p>
          <a:p>
            <a:r>
              <a:t>Flujo de caja: Año 1 es el único negativo (-$3,28M) por extinción de la línea corta ($5M) y amortización LP ($2,07M), totalizando $7,07M de capital devuelto a banco, absorbido por diseño por el capital de trabajo. Desde Año 2 el flujo es fuertemente positivo (+8,27M a +30,49M), acumulando $36,17M al Año 5.</a:t>
            </a:r>
          </a:p>
          <a:p>
            <a:r>
              <a:t>INTERPRETAR (es lo que pide el criterio): la holgura es moderada. No decir 'es muy rentable'; decir 'es viable y sensible al volumen'.</a:t>
            </a:r>
          </a:p>
          <a:p>
            <a:r>
              <a:t>Cada salto de ventas tiene una causa financiada en el flujo, no es extrapolación matemática.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al cliente con precisión: no "los agricultores", sino el segmento con sus características.
Las necesidades se derivan del problema de la diapositiva 3: cada una responde a una brecha identificada.
DECLARAR la investigación primaria pendiente antes de que la pregunten. Reconocer el límite metodológico suma en pensamiento crítico; ocultarlo y que lo descubran, resta. Hablar siempre de "mercado estimado", nunca de "clientes confirmados".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Definir las tres siglas al pasar: TAM = todo el mercado posible; SAM = el que realmente podemos atender; SOM = el que aspiramos a capturar.
Filtros del TAM al SAM: se excluyen las unidades de autoconsumo, se exige acceso a internet móvil y se priorizan cultivos de valor.
Si preguntan de dónde salen las 200 unidades: es la meta que supera el equilibrio de 166; debe validarse con piloto, entrevistas y preventas.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Leer la tabla por la última columna, que es la que importa: ninguno de los competidores dice qué hacer con el número.
No afirmar que somos más exactos: somos más completos en variables (9) y los únicos que recomiendan. La exactitud es del laboratorio.
IMPORTANTE: actualizar y fechar los precios de referencia antes de exponer; si preguntan la fecha de consulta hay que tenerla.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diapositiva es la que responde el criterio 1.1.5: argumentar decisiones con evidencia y reconocer límites.
Tono: firmeza, no disculpa. Cada riesgo va acompañado de su mitigación concreta.
La última fila es la más importante y la más honesta: reconocer que la demanda aún no está validada demuestra criterio, no debilidad.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retomando la tesis de la diapositiva 2: convertir datos en decisiones sin pretender reemplazar al laboratorio.
Las cinco conclusiones siguen el orden de los criterios de la rúbrica: economía, principio, oferta/demanda, datos y crítica.
Terminar mirando al público, sin leer, y ceder el turno a preguntas con una frase clara.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exponer esta diapositiva: dejarla oculta al final y saltar a ella sólo si surge la pregunta.
Cada integrante debe dominar al menos una pregunta que no corresponda a su bloque (lo evalúa el criterio de trabajo en equipo).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Diapositiva de respaldo para responder preguntas de la comisión sobre finanzas, financiamiento y liquidez.</a:t>
            </a:r>
          </a:p>
          <a:p>
            <a:r>
              <a:t>Dominar la diferencia clave: utilidad neta (contable) vs flujo de caja (salidas reales de dinero).</a:t>
            </a:r>
          </a:p>
          <a:p>
            <a:r>
              <a:t>Enfatizar el rol de FOGAPE y del aporte de los socios para hacer aprobable el crédito bancario.</a:t>
            </a:r>
          </a:p>
          <a:p>
            <a:r>
              <a:t>Explicar que el capital de trabajo absorbe el pago de la línea corta del primer año.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658368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COMERCIALIZACIÓN DE TECNOLOGÍAS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0352" y="187452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TERRA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30352" y="370332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 dato del suelo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una decisión concreta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617720" y="1481328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MEDIDOR QUE ENTREGA CONTEXTO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617720" y="1920240"/>
            <a:ext cx="6400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5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Tecnología portátil para interpretar el suelo y orientar decisiones agronómicas.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4617720" y="3611880"/>
            <a:ext cx="6400800" cy="41148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8862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Álvaro Villena  ·  Alan Escobar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617720" y="4315968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Docente: ____________________________     Sección: ____________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17720" y="5669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INACAP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ORGANIZACIÓN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Estructura de la presentación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30352" y="1444752"/>
            <a:ext cx="51206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RECORRIDO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755648"/>
          <a:ext cx="67665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114800"/>
                <a:gridCol w="128016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#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A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Bloque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A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Expone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A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Tiempo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A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Problema, producto y propuesta de valor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Álvaro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2:30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Economía de mercado y costo de oportunidad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Alan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2:30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Oferta y demanda: variaciones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Álvaro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2:30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Business Intelligence y finanzas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Alan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2:30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Mercado, competencia y oportunidad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Álvaro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2:00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Riesgos, decisión y conclusión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Alan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1:30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635240" y="1444752"/>
            <a:ext cx="4023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COBERTURA DE LA RÚBRICA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7635240" y="1783080"/>
            <a:ext cx="4023360" cy="566928"/>
          </a:xfrm>
          <a:prstGeom prst="roundRect">
            <a:avLst>
              <a:gd name="adj" fmla="val 8065"/>
            </a:avLst>
          </a:prstGeom>
          <a:solidFill>
            <a:srgbClr val="F4F5F7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90688" y="1929384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1.1.1  Economía y modelos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332720" y="1929384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Diap. 4 – 6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635240" y="2441448"/>
            <a:ext cx="4023360" cy="566928"/>
          </a:xfrm>
          <a:prstGeom prst="roundRect">
            <a:avLst>
              <a:gd name="adj" fmla="val 8065"/>
            </a:avLst>
          </a:prstGeom>
          <a:solidFill>
            <a:srgbClr val="F4F5F7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90688" y="258775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1.1.2  Oferta y demanda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332720" y="258775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Diap. 7 – 9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7635240" y="3099816"/>
            <a:ext cx="4023360" cy="566928"/>
          </a:xfrm>
          <a:prstGeom prst="roundRect">
            <a:avLst>
              <a:gd name="adj" fmla="val 8065"/>
            </a:avLst>
          </a:prstGeom>
          <a:solidFill>
            <a:srgbClr val="F4F5F7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90688" y="32461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1.1.3  BI / análisis de datos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332720" y="3246120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Diap. 10 – 11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7635240" y="3758184"/>
            <a:ext cx="4023360" cy="566928"/>
          </a:xfrm>
          <a:prstGeom prst="roundRect">
            <a:avLst>
              <a:gd name="adj" fmla="val 8065"/>
            </a:avLst>
          </a:prstGeom>
          <a:solidFill>
            <a:srgbClr val="F4F5F7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790688" y="3904488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1.1.4  Investigación de mercado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10332720" y="390448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Diap. 3, 12 – 14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7635240" y="4416552"/>
            <a:ext cx="4023360" cy="566928"/>
          </a:xfrm>
          <a:prstGeom prst="roundRect">
            <a:avLst>
              <a:gd name="adj" fmla="val 8065"/>
            </a:avLst>
          </a:prstGeom>
          <a:solidFill>
            <a:srgbClr val="F4F5F7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90688" y="4562856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1.1.5  Pensamiento crítico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0332720" y="4562856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Diap. 15 – 16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30352" y="5230368"/>
            <a:ext cx="11128248" cy="868680"/>
          </a:xfrm>
          <a:prstGeom prst="roundRect">
            <a:avLst>
              <a:gd name="adj" fmla="val 6316"/>
            </a:avLst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04672" y="53492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Tesis: TerraSense no reemplaza la exactitud del laboratorio. Convierte mediciones rápidas de terreno en información comprensible y acciones agronómicas concretas.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CRITERIO 1.1.4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problema: medir no es decidir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382512"/>
            <a:ext cx="10579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Universo censal: VIII Censo Agropecuario y Forestal 2021 (INE). Dimensiona el sector; no acredita intención de compra.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" y="146304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SITUACIÓN DEL PRODUCTOR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30352" y="1755648"/>
            <a:ext cx="60350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3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Decide riego y fertilización con información insuficiente o tardía.</a:t>
            </a:r>
            <a:endParaRPr lang="en-US" sz="13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3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laboratorio es preciso, pero exige muestra, espera y pago por análisis.</a:t>
            </a:r>
            <a:endParaRPr lang="en-US" sz="13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3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 medidores portátiles entregan números sin explicar qué hacer con ellos.</a:t>
            </a:r>
            <a:endParaRPr lang="en-US" sz="13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3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conectividad rural es irregular: la nube no puede ser un requisito.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30352" y="4160520"/>
            <a:ext cx="6035040" cy="960120"/>
          </a:xfrm>
          <a:prstGeom prst="roundRect">
            <a:avLst>
              <a:gd name="adj" fmla="val 5714"/>
            </a:avLst>
          </a:prstGeom>
          <a:solidFill>
            <a:srgbClr val="F4F5F7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" y="4279392"/>
            <a:ext cx="5577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problema no es solamente medir: es convertir pH, humedad o conductividad en una decisión ejecutable.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967728" y="1463040"/>
            <a:ext cx="4663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DOS BRECHAS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67728" y="1755648"/>
            <a:ext cx="4690872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78040" y="1901952"/>
            <a:ext cx="4297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BRECHA ECONÓMICA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178040" y="2176272"/>
            <a:ext cx="42976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instrumentación profesional se diseñó para la agroindustria de gran escala; su precio la deja fuera del alcance de la Agricultura Familiar Campesina.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967728" y="3364992"/>
            <a:ext cx="4690872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78040" y="3511296"/>
            <a:ext cx="4297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BRECHA DE INTERPRETACIÓN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178040" y="3785616"/>
            <a:ext cx="4297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valor aislado —2.500 µS/cm o pH 5,5— no dice si el cultivo está en riesgo ni qué hacer al respecto. Sin formación técnica, el dato no cambia la decisión.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30352" y="5303520"/>
            <a:ext cx="11128248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5413248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175.556 explotaciones agrícolas censadas en Chile   </a:t>
            </a:r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operan hoy sin instrumentación de suelo asequible ni interpretable.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CRITERIO 1.1.4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producto: de la medición a la acción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382512"/>
            <a:ext cx="10579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N, P y K son estimaciones derivadas de conductividad eléctrica, no mediciones ion-selectivas de laboratorio.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30352" y="1481328"/>
            <a:ext cx="2487168" cy="1170432"/>
          </a:xfrm>
          <a:prstGeom prst="roundRect">
            <a:avLst>
              <a:gd name="adj" fmla="val 4688"/>
            </a:avLst>
          </a:prstGeom>
          <a:solidFill>
            <a:srgbClr val="B02A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1609344"/>
            <a:ext cx="22128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8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SONDA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67512" y="1938528"/>
            <a:ext cx="221284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Inserción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el suelo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035808" y="1874520"/>
            <a:ext cx="420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456432" y="1481328"/>
            <a:ext cx="2487168" cy="1170432"/>
          </a:xfrm>
          <a:prstGeom prst="roundRect">
            <a:avLst>
              <a:gd name="adj" fmla="val 4688"/>
            </a:avLst>
          </a:prstGeom>
          <a:solidFill>
            <a:srgbClr val="2327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93592" y="1609344"/>
            <a:ext cx="22128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8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BLUETOOTH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593592" y="1938528"/>
            <a:ext cx="221284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Enlace BLE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 teléfono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61888" y="1874520"/>
            <a:ext cx="420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382512" y="1481328"/>
            <a:ext cx="2487168" cy="1170432"/>
          </a:xfrm>
          <a:prstGeom prst="roundRect">
            <a:avLst>
              <a:gd name="adj" fmla="val 4688"/>
            </a:avLst>
          </a:prstGeom>
          <a:solidFill>
            <a:srgbClr val="B02A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19672" y="1609344"/>
            <a:ext cx="22128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8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APLICACIÓN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19672" y="1938528"/>
            <a:ext cx="221284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Interpretación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local, sin red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87968" y="1874520"/>
            <a:ext cx="4206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9308592" y="1481328"/>
            <a:ext cx="2487168" cy="1170432"/>
          </a:xfrm>
          <a:prstGeom prst="roundRect">
            <a:avLst>
              <a:gd name="adj" fmla="val 4688"/>
            </a:avLst>
          </a:prstGeom>
          <a:solidFill>
            <a:srgbClr val="2E7D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45752" y="1609344"/>
            <a:ext cx="22128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8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DECISIÓN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445752" y="1938528"/>
            <a:ext cx="2212848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Acción, dosis</a:t>
            </a:r>
            <a:endParaRPr lang="en-US" sz="1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 historial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0352" y="29260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QUÉ ENTREGA EL EQUIPO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30352" y="3218688"/>
            <a:ext cx="58521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2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variables: 7 del suelo (humedad, temperatura, EC, pH, N, P, K) y 2 del ambiente.</a:t>
            </a:r>
            <a:endParaRPr lang="en-US" sz="12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2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Resultado en menos de 10 segundos, con el usuario de pie sobre el punto medido.</a:t>
            </a:r>
            <a:endParaRPr lang="en-US" sz="12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2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Semáforo agronómico: óptimo, precaución o crítico, según cultivo y etapa.</a:t>
            </a:r>
            <a:endParaRPr lang="en-US" sz="12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2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Operación sin conexión, georreferenciación automática y pago único.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629400" y="2926080"/>
            <a:ext cx="5029200" cy="2331720"/>
          </a:xfrm>
          <a:prstGeom prst="roundRect">
            <a:avLst>
              <a:gd name="adj" fmla="val 2353"/>
            </a:avLst>
          </a:prstGeom>
          <a:solidFill>
            <a:srgbClr val="F4F5F7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0" y="309067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PROPUESTA DE VALOR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858000" y="3401568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Otros equipos entregan números.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TerraSense explica qué significan y qué puede hacer el usuario para mejorarlos.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858000" y="4443984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aplicación cruza la medición con el cultivo, la etapa fenológica y el clima del lugar, y devuelve una acción concreta: qué aplicar, cuánto y por qué.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30352" y="5413248"/>
            <a:ext cx="11128248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9050">
            <a:solidFill>
              <a:srgbClr val="B02A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6384" y="5504688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Límite declarado:  </a:t>
            </a:r>
            <a:pPr indent="0" marL="0">
              <a:buNone/>
            </a:pPr>
            <a:r>
              <a:rPr lang="en-US" sz="120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NPK se estima desde la conductividad eléctrica. La app lo presenta como clase (bajo/medio/óptimo), aplica un veto por salinidad sobre 1.000 µS/cm y recomienda contraste periódico con laboratorio.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CRITERIO 1.1.1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TerraSense opera en una economía de mercado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30352" y="1417320"/>
            <a:ext cx="111282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Sistema en el que las decisiones de qué producir, cómo producirlo y a qué precio venderlo las toman agentes privados, coordinados por el precio y no por una autoridad central.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30352" y="2121408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121408"/>
            <a:ext cx="50292" cy="1417320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2860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Iniciativa privada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9808" y="2615184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Una empresa privada decide qué producir y cómo asignar sus recursos, asumiendo el riesgo.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06824" y="2121408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06824" y="2121408"/>
            <a:ext cx="50292" cy="1417320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26280" y="22860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Precio libre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26280" y="2615184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precio no lo fija una autoridad: surge de costos, disposición a pagar y competidores.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83296" y="2121408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83296" y="2121408"/>
            <a:ext cx="50292" cy="1417320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02752" y="22860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Libertad de elección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302752" y="2615184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productor puede optar por laboratorio, otro medidor, asesoría o no medir.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30352" y="3694176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694176"/>
            <a:ext cx="50292" cy="1417320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385876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Competencia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418795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Existen sustitutos, y eso obliga a diferenciarse en lugar de competir solo por precio.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06824" y="3694176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06824" y="3694176"/>
            <a:ext cx="50292" cy="1417320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6280" y="385876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Oferta y demanda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26280" y="418795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volumen que se vende depende del cruce entre ambas fuerzas, no de una asignación.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83296" y="3694176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083296" y="3694176"/>
            <a:ext cx="50292" cy="1417320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02752" y="385876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Propiedad privada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302752" y="4187952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Diseño, firmware y marca son activos propios; el usuario es dueño de sus datos.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30352" y="5321808"/>
            <a:ext cx="11128248" cy="804672"/>
          </a:xfrm>
          <a:prstGeom prst="roundRect">
            <a:avLst>
              <a:gd name="adj" fmla="val 6818"/>
            </a:avLst>
          </a:prstGeom>
          <a:solidFill>
            <a:srgbClr val="23272E"/>
          </a:solidFill>
          <a:ln w="12700">
            <a:solidFill>
              <a:srgbClr val="23272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4672" y="5422392"/>
            <a:ext cx="106070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una economía de mercado nadie garantiza la venta: cada unidad hay que ganársela frente a los sustitutos disponibles.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CRITERIO 1.1.1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Modelo: competencia monopolística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30352" y="1444752"/>
            <a:ext cx="5669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QUÉ ESTE MODELO Y NO OTRO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30352" y="1737360"/>
            <a:ext cx="576072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2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Muchos oferentes atienden la misma necesidad: medir el suelo para decidir.</a:t>
            </a:r>
            <a:endParaRPr lang="en-US" sz="12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2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 productos NO son idénticos: difieren en exactitud, rapidez, precio e interpretación.</a:t>
            </a:r>
            <a:endParaRPr lang="en-US" sz="12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2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Esa diferenciación da cierto poder sobre el precio, pero acotado por los sustitutos.</a:t>
            </a:r>
            <a:endParaRPr lang="en-US" sz="12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2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entrada al mercado es relativamente libre: no hay barreras regulatorias fuertes.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30352" y="3977640"/>
            <a:ext cx="5760720" cy="960120"/>
          </a:xfrm>
          <a:prstGeom prst="roundRect">
            <a:avLst>
              <a:gd name="adj" fmla="val 5714"/>
            </a:avLst>
          </a:prstGeom>
          <a:solidFill>
            <a:srgbClr val="F4F5F7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4096512"/>
            <a:ext cx="5303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Nos diferencia la aplicación, el modo sin conexión y el soporte local; el precio sigue limitado por los sustitutos.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29400" y="1444752"/>
            <a:ext cx="5029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DÓNDE NOS UBICAMOS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629400" y="1755648"/>
            <a:ext cx="5029200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39712" y="1874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Laboratorio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39712" y="216712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Exactitud alta · respuesta lenta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629400" y="2651760"/>
            <a:ext cx="5029200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39712" y="27706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Medidor portátil importado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839712" y="306324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Dato inmediato · sin interpretación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629400" y="3547872"/>
            <a:ext cx="5029200" cy="786384"/>
          </a:xfrm>
          <a:prstGeom prst="roundRect">
            <a:avLst>
              <a:gd name="adj" fmla="val 5814"/>
            </a:avLst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39712" y="3666744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TerraSense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39712" y="395935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3D6D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Dato inmediato + interpretación + historial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629400" y="4443984"/>
            <a:ext cx="5029200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39712" y="456285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Asesoría agronómica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839712" y="485546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Interpretación experta · costo recurrente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30352" y="5193792"/>
            <a:ext cx="11128248" cy="914400"/>
          </a:xfrm>
          <a:prstGeom prst="roundRect">
            <a:avLst>
              <a:gd name="adj" fmla="val 6000"/>
            </a:avLst>
          </a:prstGeom>
          <a:solidFill>
            <a:srgbClr val="23272E"/>
          </a:solidFill>
          <a:ln w="12700">
            <a:solidFill>
              <a:srgbClr val="2327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" y="5303520"/>
            <a:ext cx="106070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Ninguno de los cuatro entrega, al mismo tiempo, resultado inmediato en terreno y una recomendación de manejo. Ese es el espacio que ocupamos.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CRITERIO 1.1.1  ·  PRINCIPIO ECONÓMICO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costo de una cosa es aquello a lo que se renuncia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30352" y="1389888"/>
            <a:ext cx="11128248" cy="749808"/>
          </a:xfrm>
          <a:prstGeom prst="roundRect">
            <a:avLst>
              <a:gd name="adj" fmla="val 7317"/>
            </a:avLst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81328"/>
            <a:ext cx="10607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Todo lo que se elige tiene un costo: el valor de la mejor alternativa a la que se renunció para obtenerlo.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30352" y="2359152"/>
            <a:ext cx="10972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DECISIÓN DE DISEÑO QUE TOMAMOS, LEÍDA COMO COSTO DE OPORTUNIDAD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2670048"/>
          <a:ext cx="11128248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7024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Alternativa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A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 que se obtiene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A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Aquello a lo que se renuncia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A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Análisis de laboratorio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Exactitud analítica, más analitos y respaldo técnico formal.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2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Inmediatez, frecuencia de medición y bajo costo por lectura adicional.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B02A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TerraSense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Resultado inmediato en terreno, repetible sin costo marginal, e interpretado en acciones concretas.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6B72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Exactitud analítica de laboratorio y validez formal del ensayo.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30352" y="4498848"/>
            <a:ext cx="5440680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58952" y="464515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QUÉ RENUNCIAMOS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758952" y="493776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somos el equipo más exacto del mercado. La sonda 7-en-1 no iguala a un instrumento de investigación ni a un análisis químico.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217920" y="4498848"/>
            <a:ext cx="544068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22225">
            <a:solidFill>
              <a:srgbClr val="2E7D5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4645152"/>
            <a:ext cx="4937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2E7D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QUÉ GANAMOS A CAMBIO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446520" y="493776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aplicación que nadie ofrece: da contexto al resultado, dice qué significa cada número y qué hacer para mejorarlo.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CRITERIO 1.1.2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Oferta y demanda: situación base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382512"/>
            <a:ext cx="10579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Precio y volumen planificados a partir del modelo financiero; no constituyen un equilibrio econométrico observado.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188720" y="1627632"/>
            <a:ext cx="0" cy="3794760"/>
          </a:xfrm>
          <a:prstGeom prst="line">
            <a:avLst/>
          </a:prstGeom>
          <a:noFill/>
          <a:ln w="22225">
            <a:solidFill>
              <a:srgbClr val="2327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5422392"/>
            <a:ext cx="5577840" cy="0"/>
          </a:xfrm>
          <a:prstGeom prst="line">
            <a:avLst/>
          </a:prstGeom>
          <a:noFill/>
          <a:ln w="22225">
            <a:solidFill>
              <a:srgbClr val="2327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1572768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21424" y="5330952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 flipV="1">
            <a:off x="1508760" y="1947672"/>
            <a:ext cx="4892040" cy="3108960"/>
          </a:xfrm>
          <a:prstGeom prst="line">
            <a:avLst/>
          </a:prstGeom>
          <a:noFill/>
          <a:ln w="28575">
            <a:solidFill>
              <a:srgbClr val="B02A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08760" y="1947672"/>
            <a:ext cx="4892040" cy="3108960"/>
          </a:xfrm>
          <a:prstGeom prst="line">
            <a:avLst/>
          </a:prstGeom>
          <a:noFill/>
          <a:ln w="28575">
            <a:solidFill>
              <a:srgbClr val="23272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77056" y="3424428"/>
            <a:ext cx="201168" cy="201168"/>
          </a:xfrm>
          <a:prstGeom prst="ellipse">
            <a:avLst/>
          </a:prstGeom>
          <a:solidFill>
            <a:srgbClr val="B02A2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32120" y="1719072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Oferta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349240" y="4946904"/>
            <a:ext cx="1554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Demanda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07992" y="3287268"/>
            <a:ext cx="1463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Equilibrio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planificado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406640" y="1536192"/>
            <a:ext cx="4297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QUIÉN DEMANDA Y QUIÉN OFRECE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406640" y="1828800"/>
            <a:ext cx="425196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07808" y="1956816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DEMANDA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607808" y="2212848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Pequeños y medianos productores, cooperativas e instituciones que valoran decidir rápido en terreno.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406640" y="2962656"/>
            <a:ext cx="4251960" cy="1024128"/>
          </a:xfrm>
          <a:prstGeom prst="roundRect">
            <a:avLst>
              <a:gd name="adj" fmla="val 4464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07808" y="3090672"/>
            <a:ext cx="3840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OFERTA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607808" y="3346704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unidades que TerraSense puede fabricar y vender de forma rentable a cada nivel de precio.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06640" y="4133088"/>
            <a:ext cx="157276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71232" y="4261104"/>
            <a:ext cx="124358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$249.990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571232" y="4681728"/>
            <a:ext cx="1243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PRECIO IVA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9089136" y="4133088"/>
            <a:ext cx="120700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53728" y="4261104"/>
            <a:ext cx="8778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53728" y="4681728"/>
            <a:ext cx="87782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AÑO 1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10405872" y="4133088"/>
            <a:ext cx="125272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570464" y="4261104"/>
            <a:ext cx="9235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7D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166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10570464" y="4681728"/>
            <a:ext cx="9235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EQUILIBRIO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7406640" y="5138928"/>
            <a:ext cx="4251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 unidades ≈ 17 mensuales ≈ 0,17 % del mercado servible estimado.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CRITERIO 1.1.2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Dos variaciones de la demanda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382512"/>
            <a:ext cx="10579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Rangos de pérdida por error agronómico: escenarios internos de magnitud, no ahorro garantizado ni estudio de campo.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" y="1426464"/>
            <a:ext cx="5394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 · URGENCIA HÍDRICA Y SALINA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033272" y="1737360"/>
            <a:ext cx="0" cy="2331720"/>
          </a:xfrm>
          <a:prstGeom prst="line">
            <a:avLst/>
          </a:prstGeom>
          <a:noFill/>
          <a:ln w="22225">
            <a:solidFill>
              <a:srgbClr val="2327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" y="4069080"/>
            <a:ext cx="3977640" cy="0"/>
          </a:xfrm>
          <a:prstGeom prst="line">
            <a:avLst/>
          </a:prstGeom>
          <a:noFill/>
          <a:ln w="22225">
            <a:solidFill>
              <a:srgbClr val="2327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" y="1682496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65776" y="3977640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flipV="1">
            <a:off x="1289304" y="1993392"/>
            <a:ext cx="3465576" cy="1819656"/>
          </a:xfrm>
          <a:prstGeom prst="line">
            <a:avLst/>
          </a:prstGeom>
          <a:noFill/>
          <a:ln w="24130">
            <a:solidFill>
              <a:srgbClr val="6B72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9304" y="1993392"/>
            <a:ext cx="2898648" cy="1819656"/>
          </a:xfrm>
          <a:prstGeom prst="line">
            <a:avLst/>
          </a:prstGeom>
          <a:noFill/>
          <a:ln w="27940">
            <a:solidFill>
              <a:srgbClr val="2327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56232" y="1993392"/>
            <a:ext cx="2898648" cy="1819656"/>
          </a:xfrm>
          <a:prstGeom prst="line">
            <a:avLst/>
          </a:prstGeom>
          <a:noFill/>
          <a:ln w="27940">
            <a:solidFill>
              <a:srgbClr val="B02A2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608576" y="1755648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913632" y="346557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80560" y="346557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D'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33272" y="421538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demanda se desplaza a la derecha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0352" y="4498848"/>
            <a:ext cx="5394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megasequía y la salinización aumentan la necesidad de revisar humedad y conductividad con frecuencia. A igual precio, más productores quieren medir.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30352" y="5358384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Efecto: el monitoreo inmediato gana valor y crece la cantidad demandada.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55080" y="1426464"/>
            <a:ext cx="5394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 · COSTO PERCIBIDO DE DECIDIR SIN DATOS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858000" y="1737360"/>
            <a:ext cx="0" cy="2331720"/>
          </a:xfrm>
          <a:prstGeom prst="line">
            <a:avLst/>
          </a:prstGeom>
          <a:noFill/>
          <a:ln w="22225">
            <a:solidFill>
              <a:srgbClr val="2327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0" y="4069080"/>
            <a:ext cx="3977640" cy="0"/>
          </a:xfrm>
          <a:prstGeom prst="line">
            <a:avLst/>
          </a:prstGeom>
          <a:noFill/>
          <a:ln w="22225">
            <a:solidFill>
              <a:srgbClr val="2327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1682496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890504" y="3977640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 flipV="1">
            <a:off x="7114032" y="1993392"/>
            <a:ext cx="3465576" cy="1819656"/>
          </a:xfrm>
          <a:prstGeom prst="line">
            <a:avLst/>
          </a:prstGeom>
          <a:noFill/>
          <a:ln w="24130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14032" y="1993392"/>
            <a:ext cx="2898648" cy="1819656"/>
          </a:xfrm>
          <a:prstGeom prst="line">
            <a:avLst/>
          </a:prstGeom>
          <a:noFill/>
          <a:ln w="27940">
            <a:solidFill>
              <a:srgbClr val="2327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80960" y="1993392"/>
            <a:ext cx="2898648" cy="1819656"/>
          </a:xfrm>
          <a:prstGeom prst="line">
            <a:avLst/>
          </a:prstGeom>
          <a:noFill/>
          <a:ln w="27940">
            <a:solidFill>
              <a:srgbClr val="B02A26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0433304" y="1755648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738360" y="346557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305288" y="346557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D'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858000" y="421538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demanda se desplaza a la derecha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355080" y="4498848"/>
            <a:ext cx="5394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Cuando el fertilizante sube de precio, equivocarse cuesta más. El productor valora más una herramienta que reduce ese riesgo: sube su disposición a pagar.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355080" y="5358384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Efecto: mayor disposición a pagar por el mismo equipo.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44768" y="1426464"/>
            <a:ext cx="10973" cy="4480560"/>
          </a:xfrm>
          <a:prstGeom prst="rect">
            <a:avLst/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CRITERIO 1.1.2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Dos variaciones de la oferta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382512"/>
            <a:ext cx="10579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Exposición cambiaria y estructura de costos: flujo de caja y financiamiento TerraSense (modelo interno).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" y="1426464"/>
            <a:ext cx="5394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O1 · ALZA DEL DÓLAR O DE LOS INSUMOS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033272" y="1737360"/>
            <a:ext cx="0" cy="2331720"/>
          </a:xfrm>
          <a:prstGeom prst="line">
            <a:avLst/>
          </a:prstGeom>
          <a:noFill/>
          <a:ln w="22225">
            <a:solidFill>
              <a:srgbClr val="2327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" y="4069080"/>
            <a:ext cx="3977640" cy="0"/>
          </a:xfrm>
          <a:prstGeom prst="line">
            <a:avLst/>
          </a:prstGeom>
          <a:noFill/>
          <a:ln w="22225">
            <a:solidFill>
              <a:srgbClr val="2327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" y="1682496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65776" y="3977640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289304" y="1993392"/>
            <a:ext cx="3465576" cy="1819656"/>
          </a:xfrm>
          <a:prstGeom prst="line">
            <a:avLst/>
          </a:prstGeom>
          <a:noFill/>
          <a:ln w="24130">
            <a:solidFill>
              <a:srgbClr val="6B72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56232" y="1993392"/>
            <a:ext cx="2898648" cy="1819656"/>
          </a:xfrm>
          <a:prstGeom prst="line">
            <a:avLst/>
          </a:prstGeom>
          <a:noFill/>
          <a:ln w="27940">
            <a:solidFill>
              <a:srgbClr val="2327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1289304" y="1993392"/>
            <a:ext cx="2898648" cy="1819656"/>
          </a:xfrm>
          <a:prstGeom prst="line">
            <a:avLst/>
          </a:prstGeom>
          <a:noFill/>
          <a:ln w="27940">
            <a:solidFill>
              <a:srgbClr val="B02A2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480560" y="346557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08576" y="1755648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041648" y="1755648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O'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033272" y="421538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oferta se desplaza a la izquierda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0352" y="4498848"/>
            <a:ext cx="5394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88,6 % del BOM está expuesto al tipo de cambio y la sonda concentra $48.000 del costo. Una devaluación encarece cada unidad producida.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30352" y="5358384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Efecto: sube el costo, cae el margen. El modelo tolera hasta +15 % de costo variable en el Año 1.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55080" y="1426464"/>
            <a:ext cx="5394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2E7D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O2 · TECNOLOGÍA DE PRODUCCIÓN FLEXIBLE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858000" y="1737360"/>
            <a:ext cx="0" cy="2331720"/>
          </a:xfrm>
          <a:prstGeom prst="line">
            <a:avLst/>
          </a:prstGeom>
          <a:noFill/>
          <a:ln w="22225">
            <a:solidFill>
              <a:srgbClr val="2327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0" y="4069080"/>
            <a:ext cx="3977640" cy="0"/>
          </a:xfrm>
          <a:prstGeom prst="line">
            <a:avLst/>
          </a:prstGeom>
          <a:noFill/>
          <a:ln w="22225">
            <a:solidFill>
              <a:srgbClr val="2327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3952" y="1682496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890504" y="3977640"/>
            <a:ext cx="320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114032" y="1993392"/>
            <a:ext cx="3465576" cy="1819656"/>
          </a:xfrm>
          <a:prstGeom prst="line">
            <a:avLst/>
          </a:prstGeom>
          <a:noFill/>
          <a:ln w="24130">
            <a:solidFill>
              <a:srgbClr val="6B72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114032" y="1993392"/>
            <a:ext cx="2898648" cy="1819656"/>
          </a:xfrm>
          <a:prstGeom prst="line">
            <a:avLst/>
          </a:prstGeom>
          <a:noFill/>
          <a:ln w="27940">
            <a:solidFill>
              <a:srgbClr val="2327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680960" y="1993392"/>
            <a:ext cx="2898648" cy="1819656"/>
          </a:xfrm>
          <a:prstGeom prst="line">
            <a:avLst/>
          </a:prstGeom>
          <a:noFill/>
          <a:ln w="27940">
            <a:solidFill>
              <a:srgbClr val="B02A26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0305288" y="3465576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866376" y="1755648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433304" y="1755648"/>
            <a:ext cx="566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O'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858000" y="4215384"/>
            <a:ext cx="3977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7D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oferta se desplaza a la derecha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355080" y="4498848"/>
            <a:ext cx="5394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impresión 3D en PETG y el ensamblaje SMT externalizado evitan matricería sobre $15 millones. Se puede producir por lotes pequeños sin penalización.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355080" y="5358384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2E7D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Efecto: menor inversión de entrada y capacidad de ofrecer más unidades al mismo precio.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144768" y="1426464"/>
            <a:ext cx="10973" cy="4480560"/>
          </a:xfrm>
          <a:prstGeom prst="rect">
            <a:avLst/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CRITERIO 1.1.3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Intelligence: economía unitaria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382512"/>
            <a:ext cx="10579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Fuente: Flujo de caja y financiamiento TerraSense (hojas Costos unitarios y Estado de resultados). Valores netos, sin IVA.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30352" y="1444752"/>
            <a:ext cx="2615184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944" y="1572768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$210.076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4944" y="199339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INGRESO NETO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364992" y="1444752"/>
            <a:ext cx="2615184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9584" y="1572768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$91.309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29584" y="199339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COSTO VARIABLE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99632" y="1444752"/>
            <a:ext cx="2615184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64224" y="1572768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$118.767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64224" y="1993392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MARGEN UNITARIO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034272" y="1444752"/>
            <a:ext cx="2624328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98864" y="1572768"/>
            <a:ext cx="2295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56,5 %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198864" y="1993392"/>
            <a:ext cx="22951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MARGEN / INGRESO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30352" y="267004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COMPOSICIÓN DEL INGRESO NETO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0352" y="2962656"/>
            <a:ext cx="4837176" cy="658368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67528" y="2962656"/>
            <a:ext cx="6291072" cy="658368"/>
          </a:xfrm>
          <a:prstGeom prst="rect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0352" y="2962656"/>
            <a:ext cx="483717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43,5 % costo variable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367528" y="2962656"/>
            <a:ext cx="629107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56,5 % margen de contribución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30352" y="3858768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VOLUMEN DEL AÑO 1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30352" y="4151376"/>
            <a:ext cx="11128248" cy="658368"/>
          </a:xfrm>
          <a:prstGeom prst="rect">
            <a:avLst/>
          </a:prstGeom>
          <a:solidFill>
            <a:srgbClr val="E8EAED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0352" y="4151376"/>
            <a:ext cx="9235440" cy="658368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65792" y="4023360"/>
            <a:ext cx="0" cy="914400"/>
          </a:xfrm>
          <a:prstGeom prst="line">
            <a:avLst/>
          </a:prstGeom>
          <a:noFill/>
          <a:ln w="25400">
            <a:solidFill>
              <a:srgbClr val="2327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05672" y="4864608"/>
            <a:ext cx="1920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166  equilibrio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0588752" y="486460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  plan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30352" y="5285232"/>
            <a:ext cx="11128248" cy="841248"/>
          </a:xfrm>
          <a:prstGeom prst="roundRect">
            <a:avLst>
              <a:gd name="adj" fmla="val 6522"/>
            </a:avLst>
          </a:prstGeom>
          <a:solidFill>
            <a:srgbClr val="F4F5F7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04672" y="539496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Lectura:  </a:t>
            </a:r>
            <a:pPr indent="0" marL="0">
              <a:buNone/>
            </a:pPr>
            <a:r>
              <a:rPr lang="en-US" sz="12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cada unidad vendida aporta $118.767 para cubrir los gastos fijos. Bajo 166 unidades desaparece la utilidad operacional del Año 1; el plan de 200 deja una holgura de 20,5 %.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CRITERIO 1.1.3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Proyección a 5 años y sensibilidad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382512"/>
            <a:ext cx="10579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Fuente: Flujo de caja y financiamiento TerraSense (hojas Proyección, Sensibilidad y Toma de decisiones). Tasa de descuento 20 %.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30352" y="1426464"/>
            <a:ext cx="2615184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944" y="1554480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$2.588.182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4944" y="1975104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 AL 20 %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364992" y="1426464"/>
            <a:ext cx="2615184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9584" y="1554480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5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22,7 %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529584" y="1975104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99632" y="1426464"/>
            <a:ext cx="2615184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64224" y="1554480"/>
            <a:ext cx="22860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3,71 años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64224" y="1975104"/>
            <a:ext cx="2286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PAYBACK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034272" y="1426464"/>
            <a:ext cx="2624328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98864" y="1554480"/>
            <a:ext cx="22951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166 u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198864" y="1975104"/>
            <a:ext cx="22951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PUNTO DE EQUILIBRIO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30352" y="265176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DE VENTAS Y MOTOR DE CRECIMIENTO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30352" y="2962656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Año 1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261872" y="2999232"/>
            <a:ext cx="720762" cy="219456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019210" y="2962656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873752" y="2962656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Venta directa de los socios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30352" y="3383280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Año 2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261872" y="3419856"/>
            <a:ext cx="1261334" cy="219456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9782" y="338328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73752" y="33832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Agencia digital + asesores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30352" y="3803904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Año 3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261872" y="3840480"/>
            <a:ext cx="1801906" cy="219456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100354" y="3803904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73752" y="3803904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Convenio con distribuidor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30352" y="4224528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Año 4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261872" y="4261104"/>
            <a:ext cx="2342478" cy="219456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40926" y="4224528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73752" y="42245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Canal B2B e institucional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30352" y="4645152"/>
            <a:ext cx="685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Año 5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261872" y="4681728"/>
            <a:ext cx="3063240" cy="219456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61688" y="4645152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873752" y="464515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Cobertura multirregional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720840" y="2651760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SENSIBILIDAD DEL AÑO 1</a:t>
            </a:r>
            <a:endParaRPr lang="en-US" sz="9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20840" y="2944368"/>
          <a:ext cx="49377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920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Escenario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A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Utilidad operacional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A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200 u  ·  plan base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E7D5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+$3,98 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180 u  ·  −10 % volumen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E7D5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+$1,61 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166 u  ·  equilibrio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160 u  ·  −20 % volumen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B02A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−$0,77 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+15 % costo variable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2E7D5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+$1,24 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Shape 40"/>
          <p:cNvSpPr/>
          <p:nvPr/>
        </p:nvSpPr>
        <p:spPr>
          <a:xfrm>
            <a:off x="530352" y="5230368"/>
            <a:ext cx="11128248" cy="896112"/>
          </a:xfrm>
          <a:prstGeom prst="roundRect">
            <a:avLst>
              <a:gd name="adj" fmla="val 6122"/>
            </a:avLst>
          </a:prstGeom>
          <a:solidFill>
            <a:srgbClr val="23272E"/>
          </a:solidFill>
          <a:ln w="12700">
            <a:solidFill>
              <a:srgbClr val="23272E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04672" y="5330952"/>
            <a:ext cx="10607040" cy="6949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proyecto crea valor bajo sus supuestos, pero con holgura moderada: tolera hasta −17 % de volumen y +15 % de costo. Como el precio ya está en su techo, la única palanca real es proteger volumen y costo importado.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CRITERIO 1.1.4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Investigación de mercado: cliente y necesidades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382512"/>
            <a:ext cx="10579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Investigación secundaria (fuentes censales y de mercado) y modelación propia. La validación primaria está pendiente.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30352" y="14264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CLIENTE OBJETIVO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30352" y="1719072"/>
            <a:ext cx="3529584" cy="2907792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847088"/>
            <a:ext cx="31546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Pequeños y medianos productores (0,5 a 20 ha).</a:t>
            </a:r>
            <a:endParaRPr lang="en-US" sz="11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Decisiones frecuentes de riego y fertilización.</a:t>
            </a:r>
            <a:endParaRPr lang="en-US" sz="11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Conectividad rural irregular.</a:t>
            </a:r>
            <a:endParaRPr lang="en-US" sz="11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Sensibles al gasto recurrente en análisis o asesorías.</a:t>
            </a:r>
            <a:endParaRPr lang="en-US" sz="11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smartphone y disposición a usarlo.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325112" y="1426464"/>
            <a:ext cx="33832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NECESIDADES DETECTADAS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325112" y="1719072"/>
            <a:ext cx="3529584" cy="2907792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1847088"/>
            <a:ext cx="31546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Diagnóstico rápido en el punto exacto.</a:t>
            </a:r>
            <a:endParaRPr lang="en-US" sz="11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Explicación en lenguaje simple, no técnico.</a:t>
            </a:r>
            <a:endParaRPr lang="en-US" sz="11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Acción concreta: qué aplicar y cuánto.</a:t>
            </a:r>
            <a:endParaRPr lang="en-US" sz="11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Historial para comparar entre temporadas.</a:t>
            </a:r>
            <a:endParaRPr lang="en-US" sz="11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Uso sin internet y pago único.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129016" y="1426464"/>
            <a:ext cx="35295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ADOPCIÓN INICIAL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9016" y="1719072"/>
            <a:ext cx="3529584" cy="2907792"/>
          </a:xfrm>
          <a:prstGeom prst="roundRect">
            <a:avLst>
              <a:gd name="adj" fmla="val 1887"/>
            </a:avLst>
          </a:prstGeom>
          <a:solidFill>
            <a:srgbClr val="F4F5F7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30184" y="1847088"/>
            <a:ext cx="315468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Cultivos de mayor valor por hectárea.</a:t>
            </a:r>
            <a:endParaRPr lang="en-US" sz="11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Productores con apertura digital.</a:t>
            </a:r>
            <a:endParaRPr lang="en-US" sz="11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Compra directa o cofinanciada (INDAP / PRODESAL).</a:t>
            </a:r>
            <a:endParaRPr lang="en-US" sz="1150" dirty="0"/>
          </a:p>
          <a:p>
            <a:pPr marL="228600" indent="-228600">
              <a:lnSpc>
                <a:spcPct val="145000"/>
              </a:lnSpc>
              <a:buSzPct val="100000"/>
              <a:buChar char="•"/>
            </a:pPr>
            <a:r>
              <a:rPr lang="en-US" sz="115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Cooperativas que miden varios predios.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30352" y="4864608"/>
            <a:ext cx="11128248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9050">
            <a:solidFill>
              <a:srgbClr val="B02A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4974336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Pendiente declarado: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proyecto se sustenta en investigación secundaria y modelación. Para confirmar demanda real está planificado encuestar 15–30 productores y entrevistar 3–5, midiendo método actual de decisión, dolor principal y disposición a pagar frente a los $249.990.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CRITERIO 1.1.4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Dimensionamiento: TAM, SAM y SOM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382512"/>
            <a:ext cx="10579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 con fuente censal oficial (INE, 2021). SAM y SOM son estimaciones internas construidas sobre filtros comerciales declarados.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30352" y="1481328"/>
            <a:ext cx="7863840" cy="1078992"/>
          </a:xfrm>
          <a:prstGeom prst="roundRect">
            <a:avLst>
              <a:gd name="adj" fmla="val 5085"/>
            </a:avLst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09344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TAM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2103120" y="1609344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175.556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22960" y="212140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F3D6D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UNIVERSO TEÓRICO TOTAL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641080" y="1627632"/>
            <a:ext cx="30175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Explotaciones agrícolas censadas en Chile.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" y="2706624"/>
            <a:ext cx="6309360" cy="1078992"/>
          </a:xfrm>
          <a:prstGeom prst="roundRect">
            <a:avLst>
              <a:gd name="adj" fmla="val 5085"/>
            </a:avLst>
          </a:prstGeom>
          <a:solidFill>
            <a:srgbClr val="8E1F1C"/>
          </a:solidFill>
          <a:ln w="12700">
            <a:solidFill>
              <a:srgbClr val="8E1F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834640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03120" y="2834640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~120.000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22960" y="3346704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F3D6D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MERCADO SERVIBLE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41080" y="2852928"/>
            <a:ext cx="30175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 orientación comercial, acceso a internet móvil y cultivo de valor.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0352" y="3931920"/>
            <a:ext cx="4754880" cy="1078992"/>
          </a:xfrm>
          <a:prstGeom prst="roundRect">
            <a:avLst>
              <a:gd name="adj" fmla="val 5085"/>
            </a:avLst>
          </a:prstGeom>
          <a:solidFill>
            <a:srgbClr val="23272E"/>
          </a:solidFill>
          <a:ln w="12700">
            <a:solidFill>
              <a:srgbClr val="2327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405993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SOM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2103120" y="4059936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2.550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2296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F3D6D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 ALCANZABLE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641080" y="4078224"/>
            <a:ext cx="30175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Unidades acumuladas proyectadas a 5 años · 2,13 % del SAM.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30352" y="521208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4F5F7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5321808"/>
            <a:ext cx="49377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Meta Año 1: 200 unidades  </a:t>
            </a:r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 0,17 % del SAM estimado.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17920" y="5212080"/>
            <a:ext cx="5440680" cy="896112"/>
          </a:xfrm>
          <a:prstGeom prst="roundRect">
            <a:avLst>
              <a:gd name="adj" fmla="val 6122"/>
            </a:avLst>
          </a:prstGeom>
          <a:solidFill>
            <a:srgbClr val="FFFFFF"/>
          </a:solidFill>
          <a:ln w="19050">
            <a:solidFill>
              <a:srgbClr val="B02A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73952" y="5321808"/>
            <a:ext cx="49377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Lectura crítica: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200 ventas nacen del punto de equilibrio financiero, no de demanda comprometida.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CRITERIO 1.1.4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Competencia y oportunidad de mercado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382512"/>
            <a:ext cx="10579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Precios referenciales de lista convertidos a CLP · consultar y fechar antes de exponer. No se afirma superioridad metrológica.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444752"/>
          <a:ext cx="11128248" cy="914400"/>
        </p:xfrm>
        <a:graphic>
          <a:graphicData uri="http://schemas.openxmlformats.org/drawingml/2006/table">
            <a:tbl>
              <a:tblPr/>
              <a:tblGrid>
                <a:gridCol w="4453128"/>
                <a:gridCol w="2377440"/>
                <a:gridCol w="1554480"/>
                <a:gridCol w="2743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Alternativa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A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Precio referencial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A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Variables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A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¿Recomienda acción?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A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Hanna HI9814 (medidor portátil)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$269.010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Bluelab Pulse (medidor portátil)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$310.185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FieldScout TDR 350 (sonda de precisión)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$1.367.925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Análisis de laboratorio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$35.000 / muestra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12+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Parcial · 15 a 30 días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B02A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TerraSense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B02A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$249.990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B02A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9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E7D5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Sí · en la aplicación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30352" y="416052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OPORTUNIDAD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30352" y="4453128"/>
            <a:ext cx="5440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Existe un espacio vacío entre el medidor que entrega datos crudos y el laboratorio exacto pero lento. TerraSense es el único de la tabla que entrega las dos cosas: medición inmediata y recomendación de manejo.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217920" y="4160520"/>
            <a:ext cx="5440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DIFERENCIADORES Y CANALES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217920" y="4453128"/>
            <a:ext cx="54406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Diferenciadores: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interpretación agronómica, uso sin conexión, georreferenciación, historial y cero suscripción.
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Canales: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venta directa (Año 1) → INDAP/PRODESAL (Año 2) → distribuidores de insumos (Año 3) → cooperativas (Año 4).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CRITERIO 1.1.5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Decisiones, riesgos y mitigaciones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444752"/>
          <a:ext cx="11128248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17880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Decisión o riesgo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A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Fundamento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A2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Mitigación</a:t>
                      </a:r>
                      <a:endParaRPr lang="en-US" sz="10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2A2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competir en exactitud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El valor está en la frecuencia de medición y en la interpretación, no en el decimal.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Posicionar como complemento del laboratorio, no como reemplazo.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NPK estimado desde EC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 conductividad no distingue todos los iones; en suelo salino puede leer "fértil".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Clase ordinal en vez de dosis, veto por salinidad sobre 1.000 µS/cm y aviso de baja confianza.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88,6 % del BOM en dólares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Componentes y sonda importados; el tipo de cambio golpea el costo unitario.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Compra por lotes fraccionados, proveedor alternativo calificado y stock de seguridad.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Precio tope de $249.990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Es el techo estratégico para sostener la ventaja frente a los sustitutos.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 hay palanca de precio: se protege margen controlando costo y volumen.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02A2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200 ventas no validadas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3272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Es una meta financiera derivada del equilibrio, no demanda comprometida.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Piloto en terreno, entrevistas y preventas antes de comprometer la inversión.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76200" marB="76200" anchor="ctr">
                    <a:lnL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8EA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30352" y="4443984"/>
            <a:ext cx="11128248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4544568"/>
            <a:ext cx="106070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propuesta está diferenciada y el modelo financiero se sostiene, pero sólo se confirma si usuarios reales valoran la aplicación y compran al precio propuesto.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CIERRE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Conclusión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30352" y="144475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70432" y="144475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 en una economía de mercado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22392" y="1444752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Compite por diferenciación bajo competencia monopolística, con precio libre y sustitutos reales.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30352" y="201168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70432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 costo de oportunidad está declarado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22392" y="2011680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Renuncia a la exactitud analítica para ganar inmediatez, repetición e interpretación.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30352" y="257860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70432" y="257860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Oferta y demanda están identificadas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22392" y="2578608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oferta es sensible al dólar; la demanda crece con la urgencia hídrica y el costo de decidir sin datos.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30352" y="314553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70432" y="314553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modelo financiero se sostiene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22392" y="3145536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 de $2.588.182, TIR de 22,7 % y equilibrio en 166 unidades, con holgura moderada.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30352" y="371246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70432" y="371246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demanda aún debe validarse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22392" y="3712464"/>
            <a:ext cx="6766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Las 200 unidades son meta financiera; el siguiente paso es el piloto con productores reales.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30352" y="4462272"/>
            <a:ext cx="11128248" cy="1024128"/>
          </a:xfrm>
          <a:prstGeom prst="roundRect">
            <a:avLst>
              <a:gd name="adj" fmla="val 5357"/>
            </a:avLst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" y="4572000"/>
            <a:ext cx="104241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TerraSense no promete saber más que un laboratorio: promete ayudar a decidir mejor entre un análisis y el siguiente.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30352" y="5669280"/>
            <a:ext cx="11128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150" kern="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GRACIAS  ·  PREGUNTAS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ANEXO DE RESPALDO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Preguntas frecuentes de defensa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382512"/>
            <a:ext cx="10579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Diapositiva de respaldo: no se expone, se usa sólo si la pregunta aparece.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30352" y="1426464"/>
            <a:ext cx="5440680" cy="1444752"/>
          </a:xfrm>
          <a:prstGeom prst="roundRect">
            <a:avLst>
              <a:gd name="adj" fmla="val 316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426464"/>
            <a:ext cx="45720" cy="1444752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5544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¿Por qué comprarlo si es menos exacto?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9808" y="188366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Cubren necesidades distintas. El laboratorio entrega precisión puntual; TerraSense permite monitoreo frecuente, alertas e interpretación. Son complementarios.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0352" y="3026664"/>
            <a:ext cx="5440680" cy="1444752"/>
          </a:xfrm>
          <a:prstGeom prst="roundRect">
            <a:avLst>
              <a:gd name="adj" fmla="val 316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3026664"/>
            <a:ext cx="45720" cy="1444752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1546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¿Realmente mide NPK?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9808" y="348386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Entrega estimaciones derivadas de conductividad, no un análisis químico. Se informa al usuario, baja la confianza ante salinidad y se recomienda contraste periódico.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30352" y="4626864"/>
            <a:ext cx="5440680" cy="1444752"/>
          </a:xfrm>
          <a:prstGeom prst="roundRect">
            <a:avLst>
              <a:gd name="adj" fmla="val 316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626864"/>
            <a:ext cx="45720" cy="1444752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7548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¿De dónde salen las 200 ventas?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49808" y="508406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 la meta que supera el equilibrio de 166 unidades y equivale al 0,17 % del SAM estimado. No es demanda confirmada: debe validarse con piloto y preventas.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1426464"/>
            <a:ext cx="5440680" cy="1444752"/>
          </a:xfrm>
          <a:prstGeom prst="roundRect">
            <a:avLst>
              <a:gd name="adj" fmla="val 316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26464"/>
            <a:ext cx="45720" cy="1444752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37376" y="15544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¿Por qué $249.990?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37376" y="188366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Combina costo, margen y competencia. Ingreso neto $210.076, costo variable $91.309, margen $118.767. Es un techo estratégico, no un margen sobre costo.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3026664"/>
            <a:ext cx="5440680" cy="1444752"/>
          </a:xfrm>
          <a:prstGeom prst="roundRect">
            <a:avLst>
              <a:gd name="adj" fmla="val 316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0" y="3026664"/>
            <a:ext cx="45720" cy="1444752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37376" y="31546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¿Qué pasa si sube el dólar?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37376" y="348386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 88,6 % del BOM está expuesto. El modelo tolera cerca de +15 % de costo variable; se mitiga con lotes fraccionados y proveedores alternativos.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17920" y="4626864"/>
            <a:ext cx="5440680" cy="1444752"/>
          </a:xfrm>
          <a:prstGeom prst="roundRect">
            <a:avLst>
              <a:gd name="adj" fmla="val 316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7920" y="4626864"/>
            <a:ext cx="45720" cy="1444752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7376" y="47548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2A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¿Es viable el proyecto?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37376" y="508406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327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Bajo sus supuestos sí: VAN $2.588.182 al 20 %, TIR 22,7 % y payback de 3,71 años. Es condicional, porque la holgura es moderada y faltan ventas reales.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30352" y="274320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18</a:t>
            </a:r>
          </a:p>
        </p:txBody>
      </p:sp>
      <p:sp>
        <p:nvSpPr>
          <p:cNvPr id="3" name="Text 1"/>
          <p:cNvSpPr/>
          <p:nvPr/>
        </p:nvSpPr>
        <p:spPr>
          <a:xfrm>
            <a:off x="8001000" y="27432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ANEXO DE RESPALDO</a:t>
            </a:r>
          </a:p>
        </p:txBody>
      </p:sp>
      <p:sp>
        <p:nvSpPr>
          <p:cNvPr id="4" name="Text 2"/>
          <p:cNvSpPr/>
          <p:nvPr/>
        </p:nvSpPr>
        <p:spPr>
          <a:xfrm>
            <a:off x="530352" y="502920"/>
            <a:ext cx="111282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Financiamiento, flujo de caja y capital de trabajo</a:t>
            </a:r>
          </a:p>
        </p:txBody>
      </p:sp>
      <p:sp>
        <p:nvSpPr>
          <p:cNvPr id="5" name="Shape 3"/>
          <p:cNvSpPr/>
          <p:nvPr/>
        </p:nvSpPr>
        <p:spPr>
          <a:xfrm>
            <a:off x="530352" y="1170432"/>
            <a:ext cx="11128248" cy="32004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382512"/>
            <a:ext cx="105796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Diapositiva de respaldo: no se expone, se usa sólo si la comisión profundiza en finanzas.</a:t>
            </a:r>
          </a:p>
        </p:txBody>
      </p:sp>
      <p:sp>
        <p:nvSpPr>
          <p:cNvPr id="7" name="Text 5"/>
          <p:cNvSpPr/>
          <p:nvPr/>
        </p:nvSpPr>
        <p:spPr>
          <a:xfrm>
            <a:off x="11475720" y="6382512"/>
            <a:ext cx="457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18</a:t>
            </a:r>
          </a:p>
        </p:txBody>
      </p:sp>
      <p:sp>
        <p:nvSpPr>
          <p:cNvPr id="8" name="Shape 6"/>
          <p:cNvSpPr/>
          <p:nvPr/>
        </p:nvSpPr>
        <p:spPr>
          <a:xfrm>
            <a:off x="530352" y="1426464"/>
            <a:ext cx="5440680" cy="1444752"/>
          </a:xfrm>
          <a:prstGeom prst="roundRect">
            <a:avLst>
              <a:gd name="adj" fmla="val 316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426464"/>
            <a:ext cx="45720" cy="1444752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5544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¿Cómo se financian los $26,5 M de inversión inicial?</a:t>
            </a:r>
          </a:p>
        </p:txBody>
      </p:sp>
      <p:sp>
        <p:nvSpPr>
          <p:cNvPr id="11" name="Text 9"/>
          <p:cNvSpPr/>
          <p:nvPr/>
        </p:nvSpPr>
        <p:spPr>
          <a:xfrm>
            <a:off x="749808" y="188366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33,5 % capital propio de los 2 socios ($8.900.000) y 66,5 % bancario con garantía estatal FOGAPE ($12.648.500 a 5 años al 10 % y $5.000.000 línea corta al 15 %). 0 % subsidio estatal.</a:t>
            </a:r>
          </a:p>
        </p:txBody>
      </p:sp>
      <p:sp>
        <p:nvSpPr>
          <p:cNvPr id="12" name="Shape 10"/>
          <p:cNvSpPr/>
          <p:nvPr/>
        </p:nvSpPr>
        <p:spPr>
          <a:xfrm>
            <a:off x="530352" y="3026664"/>
            <a:ext cx="5440680" cy="1444752"/>
          </a:xfrm>
          <a:prstGeom prst="roundRect">
            <a:avLst>
              <a:gd name="adj" fmla="val 316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3026664"/>
            <a:ext cx="45720" cy="1444752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1546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¿Por qué la banca presta a una empresa recién creada?</a:t>
            </a:r>
          </a:p>
        </p:txBody>
      </p:sp>
      <p:sp>
        <p:nvSpPr>
          <p:cNvPr id="15" name="Text 13"/>
          <p:cNvSpPr/>
          <p:nvPr/>
        </p:nvSpPr>
        <p:spPr>
          <a:xfrm>
            <a:off x="749808" y="348386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Por la garantía estatal FOGAPE, que mitiga el 60–80 % del riesgo para PYMEs, y el 34 % de capital propio que los socios comprometen antes de solicitar el financiamiento bancario.</a:t>
            </a:r>
          </a:p>
        </p:txBody>
      </p:sp>
      <p:sp>
        <p:nvSpPr>
          <p:cNvPr id="16" name="Shape 14"/>
          <p:cNvSpPr/>
          <p:nvPr/>
        </p:nvSpPr>
        <p:spPr>
          <a:xfrm>
            <a:off x="530352" y="4626864"/>
            <a:ext cx="5440680" cy="1444752"/>
          </a:xfrm>
          <a:prstGeom prst="roundRect">
            <a:avLst>
              <a:gd name="adj" fmla="val 316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4626864"/>
            <a:ext cx="45720" cy="1444752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7548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¿Por qué el flujo de caja del Año 1 es negativo (−$3,28 M)?</a:t>
            </a:r>
          </a:p>
        </p:txBody>
      </p:sp>
      <p:sp>
        <p:nvSpPr>
          <p:cNvPr id="19" name="Text 17"/>
          <p:cNvSpPr/>
          <p:nvPr/>
        </p:nvSpPr>
        <p:spPr>
          <a:xfrm>
            <a:off x="749808" y="508406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La utilidad contable es positiva (+$2,99 M), pero el Año 1 se devuelve íntegro el capital de la línea corta ($5 M) más cuota LP ($2,07 M). Total $7,07 M pagados a banco, absorbidos por capital de trabajo.</a:t>
            </a:r>
          </a:p>
        </p:txBody>
      </p:sp>
      <p:sp>
        <p:nvSpPr>
          <p:cNvPr id="20" name="Shape 18"/>
          <p:cNvSpPr/>
          <p:nvPr/>
        </p:nvSpPr>
        <p:spPr>
          <a:xfrm>
            <a:off x="6217920" y="1426464"/>
            <a:ext cx="5440680" cy="1444752"/>
          </a:xfrm>
          <a:prstGeom prst="roundRect">
            <a:avLst>
              <a:gd name="adj" fmla="val 316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17920" y="1426464"/>
            <a:ext cx="45720" cy="1444752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37376" y="15544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¿Cómo se dimensionó el capital de trabajo ($14,8 M)?</a:t>
            </a:r>
          </a:p>
        </p:txBody>
      </p:sp>
      <p:sp>
        <p:nvSpPr>
          <p:cNvPr id="23" name="Text 21"/>
          <p:cNvSpPr/>
          <p:nvPr/>
        </p:nvSpPr>
        <p:spPr>
          <a:xfrm>
            <a:off x="6437376" y="188366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Cubre ~3 meses de gastos fijos de operación plena (incluyendo sueldos socios desde el mes 1) más la compra anticipada de 100 unidades ($7,06 M en insumos). Más $2,41 M de contingencia.</a:t>
            </a:r>
          </a:p>
        </p:txBody>
      </p:sp>
      <p:sp>
        <p:nvSpPr>
          <p:cNvPr id="24" name="Shape 22"/>
          <p:cNvSpPr/>
          <p:nvPr/>
        </p:nvSpPr>
        <p:spPr>
          <a:xfrm>
            <a:off x="6217920" y="3026664"/>
            <a:ext cx="5440680" cy="1444752"/>
          </a:xfrm>
          <a:prstGeom prst="roundRect">
            <a:avLst>
              <a:gd name="adj" fmla="val 316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17920" y="3026664"/>
            <a:ext cx="45720" cy="1444752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37376" y="31546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¿Por qué no postulan a CORFO Semilla Inicia?</a:t>
            </a:r>
          </a:p>
        </p:txBody>
      </p:sp>
      <p:sp>
        <p:nvSpPr>
          <p:cNvPr id="27" name="Text 25"/>
          <p:cNvSpPr/>
          <p:nvPr/>
        </p:nvSpPr>
        <p:spPr>
          <a:xfrm>
            <a:off x="6437376" y="348386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Por prudencia y autonomía financiera: el modelo debe sostenerse por sí mismo. Si se adjudica CORFO, sustituye deuda cara y mejora el retorno; si no, la empresa opera normalmente.</a:t>
            </a:r>
          </a:p>
        </p:txBody>
      </p:sp>
      <p:sp>
        <p:nvSpPr>
          <p:cNvPr id="28" name="Shape 26"/>
          <p:cNvSpPr/>
          <p:nvPr/>
        </p:nvSpPr>
        <p:spPr>
          <a:xfrm>
            <a:off x="6217920" y="4626864"/>
            <a:ext cx="5440680" cy="1444752"/>
          </a:xfrm>
          <a:prstGeom prst="roundRect">
            <a:avLst>
              <a:gd name="adj" fmla="val 3165"/>
            </a:avLst>
          </a:prstGeom>
          <a:solidFill>
            <a:srgbClr val="FFFFFF"/>
          </a:solidFill>
          <a:ln w="12700">
            <a:solidFill>
              <a:srgbClr val="E8EA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17920" y="4626864"/>
            <a:ext cx="45720" cy="1444752"/>
          </a:xfrm>
          <a:prstGeom prst="rect">
            <a:avLst/>
          </a:prstGeom>
          <a:solidFill>
            <a:srgbClr val="B02A26"/>
          </a:solidFill>
          <a:ln w="12700">
            <a:solidFill>
              <a:srgbClr val="B02A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7376" y="47548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¿Cómo evoluciona el retorno y flujo acumulado a 5 años?</a:t>
            </a:r>
          </a:p>
        </p:txBody>
      </p:sp>
      <p:sp>
        <p:nvSpPr>
          <p:cNvPr id="31" name="Text 29"/>
          <p:cNvSpPr/>
          <p:nvPr/>
        </p:nvSpPr>
        <p:spPr>
          <a:xfrm>
            <a:off x="6437376" y="508406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t>Flujos anuales positivos: $8,27 M (Año 2), $7,65 M (Año 3), $19,58 M (Año 4) y $30,49 M (Año 5). Cruza a positivo en 3,71 años (Payback) cerrando en $36,17 M acumulados (VAN $2,59 M, TIR 22,7 %).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INACAP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TerraSense - Comercializacion de Tecnologias</dc:title>
  <dc:subject>PptxGenJS Presentation</dc:subject>
  <dc:creator>Alvaro Villena - Alan Escobar</dc:creator>
  <cp:lastModifiedBy>Alvaro Villena - Alan Escobar</cp:lastModifiedBy>
  <cp:revision>1</cp:revision>
  <dcterms:created xsi:type="dcterms:W3CDTF">2026-09-02T02:52:06Z</dcterms:created>
  <dcterms:modified xsi:type="dcterms:W3CDTF">2026-09-02T02:52:06Z</dcterms:modified>
</cp:coreProperties>
</file>
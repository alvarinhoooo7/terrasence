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(15 s). "TerraSense mide 9 variables del suelo y del microclima y las traduce, mediante una aplicación, en alertas y recomendaciones que el productor puede ejecutar el mismo día."
Presentar al equipo y anunciar la estructura: problema, producto, economía, oferta y demanda, datos, mercado y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Anunciar el mapa de la exposición y el reparto (criterio de manejo del tiempo y organización).
Enunciar la tesis en voz alta: es el hilo conductor de toda la presentación y se retoma en la conclusión.
Ajustar nombres y tiempos si cambia la composición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Defensa: "El problema no es solamente medir; es convertir pH, humedad o conductividad en una decisión ejecutable."
Contraste clave: el laboratorio da exactitud pero llega tarde (15-30 días); el medidor portátil llega a tiempo pero no explica nada.
Honestidad: las 175.556 explotaciones dimensionan el sector, NO son clientes confirmados. Si preguntan, decirlo de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 de izquierda a derecha: sonda -&gt; Bluetooth -&gt; app -&gt; decisión. El hardware hace lo único que el teléfono no puede hacer.
Frase de valor: "Otros equipos entregan números. TerraSense explica qué significan y qué puede hacer el usuario."
DECLARAR el límite del NPK antes de que lo pregunten: suma en pensamiento crítico y evita que parezca que se oculta.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economía de mercado en una frase antes de aplicarla; el criterio pide EXPLICAR y APLICAR el concepto.
Aterrizar cada rasgo al proyecto: "el precio de $249.990 no nos lo impuso nadie, lo fijamos mirando costo, cliente y competencia".
Puente a la siguiente diapositiva: "dentro de esa economía de mercado, la estructura concreta en la que competimos es la competencia monopolística".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la elección del modelo: no es competencia perfecta (los productos no son homogéneos) ni monopolio (hay sustitutos reales).
Competencia monopolística = muchos oferentes + producto diferenciado + entrada libre + poder de precio limitado.
Cerrar señalando el hueco del mapa: nadie combina inmediatez con interpretación. Enlaza con el costo de oportunidad.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CENTRAL DEL CRITERIO 1.1.1. Enunciar el principio, definirlo y APLICARLO al proyecto.
Guion: "Elegimos deliberadamente renunciar a la exactitud analítica. Ese es nuestro costo de oportunidad. A cambio obtenemos algo que ningún competidor entrega: una aplicación que le dice al productor qué significa el número y qué hacer con él."
Cerrar con complementariedad: "TerraSense sirve para monitoreo frecuente; el laboratorio, como referencia periódica. No compiten: se complementan."
Si preguntan "¿por qué comprarlo si es menos exacto?" -&gt; porque cubren necesidades distintas: precisión puntual vs. seguimiento continuo interpretado.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lógica de las curvas antes de los números: la demanda cae con el precio, la oferta sube con el precio.
Honestidad metodológica (suma en pensamiento crítico): el punto marcado es nuestro PLAN de precio y volumen, no un equilibrio medido en el mercado.
Anclar: a $249.990 planificamos 200 unidades y necesitamos 166 para no perder dinero. Las dos diapositivas siguientes mueven cada curva.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Precisión técnica que suma puntos: esto es un DESPLAZAMIENTO de la curva (cambia un factor distinto al precio), no un movimiento a lo largo de ella.
D1: factor = condiciones climáticas / necesidad. D2: factor = costo del error, es decir el precio de los bienes relacionados (fertilizante).
Cuantificación disponible si preguntan: el repositorio estima pérdidas de $350.000 a $1.400.000 por hectárea por errores de riego o fertilización. Aclarar que es escenario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Igual que en la demanda: son DESPLAZAMIENTOS por factores distintos del precio (costo de insumos y tecnología de producción).
O1 es el riesgo principal del proyecto y hay que decirlo con seguridad: 88,6 % del BOM en dólares, holgura de +15 % en costo variable.
O2 es la oportunidad: sin molde de inyección no hay inversión hundida, por eso podemos partir con 200 unidades y no con 5.000.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qué es margen de contribución antes de dar la cifra: lo que queda de cada venta para pagar los costos fijos.
Camino del número: $210.076 de ingreso neto - $91.309 de costo variable = $118.767, equivalente al 56,5 % del ingreso.
El costo variable incluye BOM ($70.656), flete nacional, merma, provisión de garantía legal y mano de obra directa ($9.000).
Interpretar, no solo mostrar: el negocio es viable por margen, pero la holgura de volumen es moderada (20,5 %).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VAN y TIR en una frase cada uno: VAN = valor que crea el proyecto hoy descontando el riesgo; TIR = rentabilidad propia del proyecto.
VAN positivo de $2.588.182 al 20 % y TIR de 22,7 %: supera la exigencia por 2,7 puntos. Payback 3,71 años, dentro del horizonte de 5.
INTERPRETAR (es lo que pide el criterio): la holgura es moderada. No decir "es muy rentable"; decir "es viable y sensible al volumen".
Cada salto de ventas tiene una causa financiada en el flujo, no es extrapolación matemática.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al cliente con precisión: no "los agricultores", sino el segmento con sus características.
Las necesidades se derivan del problema de la diapositiva 3: cada una responde a una brecha identificada.
DECLARAR la investigación primaria pendiente antes de que la pregunten. Reconocer el límite metodológico suma en pensamiento crítico; ocultarlo y que lo descubran, resta. Hablar siempre de "mercado estimado", nunca de "clientes confirmados".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las tres siglas al pasar: TAM = todo el mercado posible; SAM = el que realmente podemos atender; SOM = el que aspiramos a capturar.
Filtros del TAM al SAM: se excluyen las unidades de autoconsumo, se exige acceso a internet móvil y se priorizan cultivos de valor.
Si preguntan de dónde salen las 200 unidades: es la meta que supera el equilibrio de 166; debe validarse con piloto, entrevistas y preventas.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tabla por la última columna, que es la que importa: ninguno de los competidores dice qué hacer con el número.
No afirmar que somos más exactos: somos más completos en variables (9) y los únicos que recomiendan. La exactitud es del laboratorio.
IMPORTANTE: actualizar y fechar los precios de referencia antes de exponer; si preguntan la fecha de consulta hay que tenerla.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la que responde el criterio 1.1.5: argumentar decisiones con evidencia y reconocer límites.
Tono: firmeza, no disculpa. Cada riesgo va acompañado de su mitigación concreta.
La última fila es la más importante y la más honesta: reconocer que la demanda aún no está validada demuestra criterio, no debilidad.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retomando la tesis de la diapositiva 2: convertir datos en decisiones sin pretender reemplazar al laboratorio.
Las cinco conclusiones siguen el orden de los criterios de la rúbrica: economía, principio, oferta/demanda, datos y crítica.
Terminar mirando al público, sin leer, y ceder el turno a preguntas con una frase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exponer esta diapositiva: dejarla oculta al final y saltar a ella sólo si surge la pregunta.
Cada integrante debe dominar al menos una pregunta que no corresponda a su bloque (lo evalúa el criterio de trabajo en equipo).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8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COMERCIALIZACIÓN DE TECNOLOGÍAS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18745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703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dato del suelo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una decisión concreta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617720" y="14813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MEDIDOR QUE ENTREGA CONTEXTO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19202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 portátil para interpretar el suelo y orientar decisiones agronómicas.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617720" y="3611880"/>
            <a:ext cx="6400800" cy="41148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Álvaro Villena  ·  Alan Escobar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43159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Docente: ____________________________     Sección: ____________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INACAP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 la presentación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RECORRIDO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755648"/>
          <a:ext cx="67665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128016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Tiempo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Problema, producto y propuesta de valor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Álvaro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2:30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Economía de mercado y costo de oportunidad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2:30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Oferta y demanda: variaciones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Álvaro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2:30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 Intelligence y finanzas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2:30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Mercado, competencia y oportunidad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Álvaro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2:00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Riesgos, decisión y conclusión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1:30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35240" y="14447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LA RÚBRICA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35240" y="1783080"/>
            <a:ext cx="402336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90688" y="1929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1.1.1  Economía y modelos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332720" y="1929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Diap. 4 – 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35240" y="2441448"/>
            <a:ext cx="402336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2587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1.1.2  Oferta y demanda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332720" y="2587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Diap. 7 – 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35240" y="3099816"/>
            <a:ext cx="402336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0688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1.1.3  BI / análisis de datos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33272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Diap. 10 – 11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35240" y="3758184"/>
            <a:ext cx="402336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90688" y="3904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1.1.4  Investigación de mercado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332720" y="3904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Diap. 3, 12 – 14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635240" y="4416552"/>
            <a:ext cx="4023360" cy="566928"/>
          </a:xfrm>
          <a:prstGeom prst="roundRect">
            <a:avLst>
              <a:gd name="adj" fmla="val 8065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90688" y="45628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1.1.5  Pensamiento crítico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332720" y="45628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Diap. 15 – 16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0352" y="5230368"/>
            <a:ext cx="11128248" cy="868680"/>
          </a:xfrm>
          <a:prstGeom prst="roundRect">
            <a:avLst>
              <a:gd name="adj" fmla="val 6316"/>
            </a:avLst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Tesis: TerraSense no reemplaza la exactitud del laboratorio. Convierte mediciones rápidas de terreno en información comprensible y acciones agronómicas concretas.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problema: medir no es decidir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Universo censal: VIII Censo Agropecuario y Forestal 2021 (INE). Dimensiona el sector; no acredita intención de compra.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SITUACIÓN DEL PRODUCTOR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1755648"/>
            <a:ext cx="6035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riego y fertilización con información insuficiente o tardía.</a:t>
            </a:r>
            <a:endParaRPr lang="en-US" sz="13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laboratorio es preciso, pero exige muestra, espera y pago por análisis.</a:t>
            </a:r>
            <a:endParaRPr lang="en-US" sz="13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medidores portátiles entregan números sin explicar qué hacer con ellos.</a:t>
            </a:r>
            <a:endParaRPr lang="en-US" sz="13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conectividad rural es irregular: la nube no puede ser un requisito.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0352" y="4160520"/>
            <a:ext cx="6035040" cy="96012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427939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 no es solamente medir: es convertir pH, humedad o conductividad en una decisión ejecutable.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67728" y="146304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DOS BRECHAS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67728" y="1755648"/>
            <a:ext cx="469087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90195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BRECHA ECONÓMICA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78040" y="2176272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instrumentación profesional se diseñó para la agroindustria de gran escala; su precio la deja fuera del alcance de la Agricultura Familiar Campesina.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67728" y="3364992"/>
            <a:ext cx="4690872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351129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BRECHA DE INTERPRETACIÓN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78040" y="3785616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valor aislado —2.500 µS/cm o pH 5,5— no dice si el cultivo está en riesgo ni qué hacer al respecto. Sin formación técnica, el dato no cambia la decisión.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0352" y="5303520"/>
            <a:ext cx="11128248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41324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175.556 explotaciones agrícolas censadas en Chile 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operan hoy sin instrumentación de suelo asequible ni interpretable.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producto: de la medición a la acción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N, P y K son estimaciones derivadas de conductividad eléctrica, no mediciones ion-selectivas de laboratorio.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481328"/>
            <a:ext cx="2487168" cy="1170432"/>
          </a:xfrm>
          <a:prstGeom prst="roundRect">
            <a:avLst>
              <a:gd name="adj" fmla="val 4688"/>
            </a:avLst>
          </a:prstGeom>
          <a:solidFill>
            <a:srgbClr val="B02A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09344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" y="1938528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Inserción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suelo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35808" y="187452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56432" y="1481328"/>
            <a:ext cx="2487168" cy="1170432"/>
          </a:xfrm>
          <a:prstGeom prst="roundRect">
            <a:avLst>
              <a:gd name="adj" fmla="val 4688"/>
            </a:avLst>
          </a:prstGeom>
          <a:solidFill>
            <a:srgbClr val="232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1609344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BLUETOOTH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93592" y="1938528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Enlace BLE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teléfono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61888" y="187452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82512" y="1481328"/>
            <a:ext cx="2487168" cy="1170432"/>
          </a:xfrm>
          <a:prstGeom prst="roundRect">
            <a:avLst>
              <a:gd name="adj" fmla="val 4688"/>
            </a:avLst>
          </a:prstGeom>
          <a:solidFill>
            <a:srgbClr val="B02A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09344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19672" y="1938528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Interpretación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local, sin 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87968" y="1874520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308592" y="1481328"/>
            <a:ext cx="2487168" cy="1170432"/>
          </a:xfrm>
          <a:prstGeom prst="roundRect">
            <a:avLst>
              <a:gd name="adj" fmla="val 4688"/>
            </a:avLst>
          </a:prstGeom>
          <a:solidFill>
            <a:srgbClr val="2E7D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1609344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45752" y="1938528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Acción, dosis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historial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292608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ENTREGA EL EQUIPO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3218688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variables: 7 del suelo (humedad, temperatura, EC, pH, N, P, K) y 2 del ambiente.</a:t>
            </a:r>
            <a:endParaRPr lang="en-US" sz="12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en menos de 10 segundos, con el usuario de pie sobre el punto medido.</a:t>
            </a:r>
            <a:endParaRPr lang="en-US" sz="12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Semáforo agronómico: óptimo, precaución o crítico, según cultivo y etapa.</a:t>
            </a:r>
            <a:endParaRPr lang="en-US" sz="12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Operación sin conexión, georreferenciación automática y pago único.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2926080"/>
            <a:ext cx="5029200" cy="2331720"/>
          </a:xfrm>
          <a:prstGeom prst="roundRect">
            <a:avLst>
              <a:gd name="adj" fmla="val 2353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0906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DE VALOR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0" y="340156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Otros equipos entregan números.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TerraSense explica qué significan y qué puede hacer el usuario para mejorarlos.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444398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aplicación cruza la medición con el cultivo, la etapa fenológica y el clima del lugar, y devuelve una acción concreta: qué aplicar, cuánto y por qué.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0352" y="5413248"/>
            <a:ext cx="1112824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02A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50468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 declarado:  </a:t>
            </a:r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NPK se estima desde la conductividad eléctrica. La app lo presenta como clase (bajo/medio/óptimo), aplica un veto por salinidad sobre 1.000 µS/cm y recomienda contraste periódico con laboratorio.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TerraSense opera en una economía de mercado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11128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en el que las decisiones de qué producir, cómo producirlo y a qué precio venderlo las toman agentes privados, coordinados por el precio y no por una autoridad central.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2121408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121408"/>
            <a:ext cx="50292" cy="1417320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Iniciativa privada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61518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empresa privada decide qué producir y cómo asignar sus recursos, asumiendo el riesgo.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6824" y="2121408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2121408"/>
            <a:ext cx="50292" cy="1417320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libre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61518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precio no lo fija una autoridad: surge de costos, disposición a pagar y competidores.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83296" y="2121408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2121408"/>
            <a:ext cx="50292" cy="1417320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Libertad de elección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261518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productor puede optar por laboratorio, otro medidor, asesoría o no medir.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3694176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694176"/>
            <a:ext cx="50292" cy="1417320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858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1879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Existen sustitutos, y eso obliga a diferenciarse en lugar de competir solo por precio.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06824" y="3694176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6824" y="3694176"/>
            <a:ext cx="50292" cy="1417320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858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Oferta y demanda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1879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volumen que se vende depende del cruce entre ambas fuerzas, no de una asignación.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83296" y="3694176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3694176"/>
            <a:ext cx="50292" cy="1417320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3858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Propiedad privada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02752" y="41879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Diseño, firmware y marca son activos propios; el usuario es dueño de sus datos.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" y="5321808"/>
            <a:ext cx="11128248" cy="804672"/>
          </a:xfrm>
          <a:prstGeom prst="roundRect">
            <a:avLst>
              <a:gd name="adj" fmla="val 6818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422392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economía de mercado nadie garantiza la venta: cada unidad hay que ganársela frente a los sustitutos disponibles.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Modelo: competencia monopolística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ESTE MODELO Y NO OTRO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5760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Muchos oferentes atienden la misma necesidad: medir el suelo para decidir.</a:t>
            </a:r>
            <a:endParaRPr lang="en-US" sz="12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productos NO son idénticos: difieren en exactitud, rapidez, precio e interpretación.</a:t>
            </a:r>
            <a:endParaRPr lang="en-US" sz="12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diferenciación da cierto poder sobre el precio, pero acotado por los sustitutos.</a:t>
            </a:r>
            <a:endParaRPr lang="en-US" sz="12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entrada al mercado es relativamente libre: no hay barreras regulatorias fuertes.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" y="397764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096512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 diferencia la aplicación, el modo sin conexión y el soporte local; el precio sigue limitado por los sustitutos.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4447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NOS UBICAMOS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29400" y="1755648"/>
            <a:ext cx="50292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Laboratorio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39712" y="2167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Exactitud alta · respuesta lenta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29400" y="2651760"/>
            <a:ext cx="50292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770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Medidor portátil importado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39712" y="3063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 inmediato · sin interpretación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9400" y="3547872"/>
            <a:ext cx="5029200" cy="786384"/>
          </a:xfrm>
          <a:prstGeom prst="roundRect">
            <a:avLst>
              <a:gd name="adj" fmla="val 5814"/>
            </a:avLst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36667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TerraSense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39712" y="3959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D6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 inmediato + interpretación + historial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4443984"/>
            <a:ext cx="50292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45628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Asesoría agronómica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39712" y="48554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Interpretación experta · costo recurrente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" y="5193792"/>
            <a:ext cx="11128248" cy="914400"/>
          </a:xfrm>
          <a:prstGeom prst="roundRect">
            <a:avLst>
              <a:gd name="adj" fmla="val 6000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303520"/>
            <a:ext cx="10607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Ninguno de los cuatro entrega, al mismo tiempo, resultado inmediato en terreno y una recomendación de manejo. Ese es el espacio que ocupamos.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1.1.1  ·  PRINCIPIO ECONÓMICO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costo de una cosa es aquello a lo que se renuncia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" y="1389888"/>
            <a:ext cx="11128248" cy="749808"/>
          </a:xfrm>
          <a:prstGeom prst="roundRect">
            <a:avLst>
              <a:gd name="adj" fmla="val 7317"/>
            </a:avLst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813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se elige tiene un costo: el valor de la mejor alternativa a la que se renunció para obtenerlo.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2359152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DECISIÓN DE DISEÑO QUE TOMAMOS, LEÍDA COMO COSTO DE OPORTUNIDAD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670048"/>
          <a:ext cx="11128248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702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Alternativa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se obtiene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Aquello a lo que se renuncia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Análisis de laboratorio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Exactitud analítica, más analitos y respaldo técnico formal.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Inmediatez, frecuencia de medición y bajo costo por lectura adicional.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0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TerraSense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 inmediato en terreno, repetible sin costo marginal, e interpretado en acciones concretas.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Exactitud analítica de laboratorio y validez formal del ensayo.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30352" y="4498848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46451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QUÉ RENUNCIAMOS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" y="49377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somos el equipo más exacto del mercado. La sonda 7-en-1 no iguala a un instrumento de investigación ni a un análisis químico.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4498848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22225">
            <a:solidFill>
              <a:srgbClr val="2E7D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46451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GANAMOS A CAMBIO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46520" y="49377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aplicación que nadie ofrece: da contexto al resultado, dice qué significa cada número y qué hacer para mejorarlo.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Oferta y demanda: situación base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y volumen planificados a partir del modelo financiero; no constituyen un equilibrio econométrico observado.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627632"/>
            <a:ext cx="0" cy="379476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5422392"/>
            <a:ext cx="5577840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727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21424" y="53309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1508760" y="1947672"/>
            <a:ext cx="4892040" cy="3108960"/>
          </a:xfrm>
          <a:prstGeom prst="line">
            <a:avLst/>
          </a:prstGeom>
          <a:noFill/>
          <a:ln w="28575">
            <a:solidFill>
              <a:srgbClr val="B02A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1947672"/>
            <a:ext cx="4892040" cy="3108960"/>
          </a:xfrm>
          <a:prstGeom prst="line">
            <a:avLst/>
          </a:prstGeom>
          <a:noFill/>
          <a:ln w="28575">
            <a:solidFill>
              <a:srgbClr val="232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77056" y="3424428"/>
            <a:ext cx="201168" cy="20116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7190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Oferta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494690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07992" y="32872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Equilibrio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53619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DEMANDA Y QUIÉN OFRECE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42519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19568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07808" y="22128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Pequeños y medianos productores, cooperativas e instituciones que valoran decidir rápido en terreno.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2962656"/>
            <a:ext cx="42519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30906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OFERTA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607808" y="3346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unidades que TerraSense puede fabricar y vender de forma rentable a cada nivel de precio.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4133088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4261104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$249.990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71232" y="468172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IVA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89136" y="4133088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4261104"/>
            <a:ext cx="877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53728" y="468172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AÑO 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405872" y="4133088"/>
            <a:ext cx="12527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70464" y="4261104"/>
            <a:ext cx="923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70464" y="4681728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EQUILIBRIO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06640" y="51389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unidades ≈ 17 mensuales ≈ 0,17 % del mercado servible estimado.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variaciones de la demanda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Rangos de pérdida por error agronómico: escenarios internos de magnitud, no ahorro garantizado ni estudio de campo.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264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 · URGENCIA HÍDRICA Y SALINA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33272" y="1737360"/>
            <a:ext cx="0" cy="233172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4069080"/>
            <a:ext cx="3977640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6824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65776" y="39776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V="1">
            <a:off x="1289304" y="1993392"/>
            <a:ext cx="3465576" cy="1819656"/>
          </a:xfrm>
          <a:prstGeom prst="line">
            <a:avLst/>
          </a:prstGeom>
          <a:noFill/>
          <a:ln w="2413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9304" y="1993392"/>
            <a:ext cx="2898648" cy="1819656"/>
          </a:xfrm>
          <a:prstGeom prst="line">
            <a:avLst/>
          </a:prstGeom>
          <a:noFill/>
          <a:ln w="27940">
            <a:solidFill>
              <a:srgbClr val="2327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56232" y="1993392"/>
            <a:ext cx="2898648" cy="1819656"/>
          </a:xfrm>
          <a:prstGeom prst="line">
            <a:avLst/>
          </a:prstGeom>
          <a:noFill/>
          <a:ln w="27940">
            <a:solidFill>
              <a:srgbClr val="B02A2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608576" y="17556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13632" y="34655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34655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D'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33272" y="42153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demanda se desplaza a la derecha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49884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megasequía y la salinización aumentan la necesidad de revisar humedad y conductividad con frecuencia. A igual precio, más productores quieren medir.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" y="535838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Efecto: el monitoreo inmediato gana valor y crece la cantidad demandada.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4264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 · COSTO PERCIBIDO DE DECIDIR SIN DATOS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737360"/>
            <a:ext cx="0" cy="233172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4069080"/>
            <a:ext cx="3977640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6824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890504" y="39776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7114032" y="1993392"/>
            <a:ext cx="3465576" cy="1819656"/>
          </a:xfrm>
          <a:prstGeom prst="line">
            <a:avLst/>
          </a:prstGeom>
          <a:noFill/>
          <a:ln w="2413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14032" y="1993392"/>
            <a:ext cx="2898648" cy="1819656"/>
          </a:xfrm>
          <a:prstGeom prst="line">
            <a:avLst/>
          </a:prstGeom>
          <a:noFill/>
          <a:ln w="27940">
            <a:solidFill>
              <a:srgbClr val="2327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1993392"/>
            <a:ext cx="2898648" cy="1819656"/>
          </a:xfrm>
          <a:prstGeom prst="line">
            <a:avLst/>
          </a:prstGeom>
          <a:noFill/>
          <a:ln w="27940">
            <a:solidFill>
              <a:srgbClr val="B02A26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0433304" y="17556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38360" y="34655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305288" y="34655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D'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0" y="42153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demanda se desplaza a la derecha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449884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el fertilizante sube de precio, equivocarse cuesta más. El productor valora más una herramienta que reduce ese riesgo: sube su disposición a pagar.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55080" y="535838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Efecto: mayor disposición a pagar por el mismo equipo.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44768" y="1426464"/>
            <a:ext cx="10973" cy="4480560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variaciones de la oferta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Exposición cambiaria y estructura de costos: flujo de caja y financiamiento TerraSense (modelo interno).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264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 · ALZA DEL DÓLAR O DE LOS INSUMOS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33272" y="1737360"/>
            <a:ext cx="0" cy="233172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4069080"/>
            <a:ext cx="3977640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6824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65776" y="39776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9304" y="1993392"/>
            <a:ext cx="3465576" cy="1819656"/>
          </a:xfrm>
          <a:prstGeom prst="line">
            <a:avLst/>
          </a:prstGeom>
          <a:noFill/>
          <a:ln w="2413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856232" y="1993392"/>
            <a:ext cx="2898648" cy="1819656"/>
          </a:xfrm>
          <a:prstGeom prst="line">
            <a:avLst/>
          </a:prstGeom>
          <a:noFill/>
          <a:ln w="27940">
            <a:solidFill>
              <a:srgbClr val="2327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89304" y="1993392"/>
            <a:ext cx="2898648" cy="1819656"/>
          </a:xfrm>
          <a:prstGeom prst="line">
            <a:avLst/>
          </a:prstGeom>
          <a:noFill/>
          <a:ln w="27940">
            <a:solidFill>
              <a:srgbClr val="B02A2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480560" y="34655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08576" y="17556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41648" y="17556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33272" y="42153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oferta se desplaza a la izquierda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449884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88,6 % del BOM está expuesto al tipo de cambio y la sonda concentra $48.000 del costo. Una devaluación encarece cada unidad producida.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" y="535838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Efecto: sube el costo, cae el margen. El modelo tolera hasta +15 % de costo variable en el Año 1.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4264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 · TECNOLOGÍA DE PRODUCCIÓN FLEXIBLE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737360"/>
            <a:ext cx="0" cy="233172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4069080"/>
            <a:ext cx="3977640" cy="0"/>
          </a:xfrm>
          <a:prstGeom prst="line">
            <a:avLst/>
          </a:prstGeom>
          <a:noFill/>
          <a:ln w="22225">
            <a:solidFill>
              <a:srgbClr val="232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6824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890504" y="39776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14032" y="1993392"/>
            <a:ext cx="3465576" cy="1819656"/>
          </a:xfrm>
          <a:prstGeom prst="line">
            <a:avLst/>
          </a:prstGeom>
          <a:noFill/>
          <a:ln w="2413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114032" y="1993392"/>
            <a:ext cx="2898648" cy="1819656"/>
          </a:xfrm>
          <a:prstGeom prst="line">
            <a:avLst/>
          </a:prstGeom>
          <a:noFill/>
          <a:ln w="27940">
            <a:solidFill>
              <a:srgbClr val="2327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7680960" y="1993392"/>
            <a:ext cx="2898648" cy="1819656"/>
          </a:xfrm>
          <a:prstGeom prst="line">
            <a:avLst/>
          </a:prstGeom>
          <a:noFill/>
          <a:ln w="27940">
            <a:solidFill>
              <a:srgbClr val="B02A26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0305288" y="346557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866376" y="17556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433304" y="17556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O'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0" y="42153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oferta se desplaza a la derecha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449884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impresión 3D en PETG y el ensamblaje SMT externalizado evitan matricería sobre $15 millones. Se puede producir por lotes pequeños sin penalización.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55080" y="535838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Efecto: menor inversión de entrada y capacidad de ofrecer más unidades al mismo precio.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44768" y="1426464"/>
            <a:ext cx="10973" cy="4480560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Intelligence: economía unitaria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Fuente: Flujo de caja y financiamiento TerraSense (hojas Costos unitarios y Estado de resultados). Valores netos, sin IVA.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444752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5727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$210.076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" y="1993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INGRESO NETO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64992" y="1444752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5727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$91.309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9584" y="1993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COSTO VARIABLE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99632" y="1444752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5727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$118.767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4224" y="1993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MARGEN UNITARIO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34272" y="1444752"/>
            <a:ext cx="26243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8864" y="1572768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56,5 %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98864" y="1993392"/>
            <a:ext cx="2295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MARGEN / INGRESO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26700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COMPOSICIÓN DEL INGRESO NETO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" y="2962656"/>
            <a:ext cx="4837176" cy="658368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7528" y="2962656"/>
            <a:ext cx="6291072" cy="65836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962656"/>
            <a:ext cx="4837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43,5 % costo variable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67528" y="2962656"/>
            <a:ext cx="6291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56,5 % margen de contribución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0352" y="38587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VOLUMEN DEL AÑO 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" y="4151376"/>
            <a:ext cx="11128248" cy="658368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151376"/>
            <a:ext cx="9235440" cy="658368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65792" y="4023360"/>
            <a:ext cx="0" cy="914400"/>
          </a:xfrm>
          <a:prstGeom prst="line">
            <a:avLst/>
          </a:prstGeom>
          <a:noFill/>
          <a:ln w="25400">
            <a:solidFill>
              <a:srgbClr val="2327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5672" y="4864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166  equilibrio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588752" y="4864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 plan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0352" y="5285232"/>
            <a:ext cx="11128248" cy="841248"/>
          </a:xfrm>
          <a:prstGeom prst="roundRect">
            <a:avLst>
              <a:gd name="adj" fmla="val 6522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Lectura:  </a:t>
            </a:r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unidad vendida aporta $118.767 para cubrir los gastos fijos. Bajo 166 unidades desaparece la utilidad operacional del Año 1; el plan de 200 deja una holgura de 20,5 %.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Proyección a 5 años y sensibilidad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Fuente: Flujo de caja y financiamiento TerraSense (hojas Proyección, Sensibilidad y Toma de decisiones). Tasa de descuento 20 %.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426464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5544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$2.588.182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" y="1975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 AL 20 %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64992" y="1426464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5544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22,7 %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9584" y="1975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99632" y="1426464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5544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3,71 años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4224" y="1975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34272" y="1426464"/>
            <a:ext cx="26243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8864" y="1554480"/>
            <a:ext cx="2295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166 u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98864" y="1975104"/>
            <a:ext cx="2295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 DE EQUILIBRIO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265176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VENTAS Y MOTOR DE CRECIMIENTO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29626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 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261872" y="2999232"/>
            <a:ext cx="720762" cy="219456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9210" y="29626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29626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 directa de los socios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3383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 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261872" y="3419856"/>
            <a:ext cx="1261334" cy="219456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9782" y="3383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Agencia digital + asesores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80390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 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61872" y="3840480"/>
            <a:ext cx="1801906" cy="219456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0354" y="38039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752" y="38039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Convenio con distribuidor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" y="42245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 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261872" y="4261104"/>
            <a:ext cx="2342478" cy="219456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40926" y="4224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73752" y="4224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Canal B2B e institucional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" y="464515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 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261872" y="4681728"/>
            <a:ext cx="3063240" cy="219456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61688" y="46451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73752" y="4645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multirregional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20840" y="265176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SENSIBILIDAD DEL AÑO 1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944368"/>
          <a:ext cx="49377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Escenario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Utilidad operacional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u  ·  plan base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+$3,98 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180 u  ·  −10 % volumen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+$1,61 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166 u  ·  equilibrio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160 u  ·  −20 % volumen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−$0,77 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+15 % costo variable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E7D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+$1,24 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530352" y="5230368"/>
            <a:ext cx="11128248" cy="896112"/>
          </a:xfrm>
          <a:prstGeom prst="roundRect">
            <a:avLst>
              <a:gd name="adj" fmla="val 612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4672" y="5330952"/>
            <a:ext cx="10607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proyecto crea valor bajo sus supuestos, pero con holgura moderada: tolera hasta −17 % de volumen y +15 % de costo. Como el precio ya está en su techo, la única palanca real es proteger volumen y costo importado.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Investigación de mercado: cliente y necesidades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Investigación secundaria (fuentes censales y de mercado) y modelación propia. La validación primaria está pendiente.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264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OBJETIVO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719072"/>
            <a:ext cx="3529584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47088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Pequeños y medianos productores (0,5 a 20 ha).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frecuentes de riego y fertilización.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Conectividad rural irregular.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Sensibles al gasto recurrente en análisis o asesorías.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smartphone y disposición a usarlo.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25112" y="14264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NECESIDADES DETECTADAS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5112" y="1719072"/>
            <a:ext cx="3529584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847088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rápido en el punto exacto.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Explicación en lenguaje simple, no técnico.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concreta: qué aplicar y cuánto.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 para comparar entre temporadas.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sin internet y pago único.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29016" y="142646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ADOPCIÓN INICIAL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9016" y="1719072"/>
            <a:ext cx="3529584" cy="2907792"/>
          </a:xfrm>
          <a:prstGeom prst="roundRect">
            <a:avLst>
              <a:gd name="adj" fmla="val 1887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847088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Cultivos de mayor valor por hectárea.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Productores con apertura digital.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 directa o cofinanciada (INDAP / PRODESAL).</a:t>
            </a:r>
            <a:endParaRPr lang="en-US" sz="1150" dirty="0"/>
          </a:p>
          <a:p>
            <a:pPr marL="228600" indent="-228600">
              <a:lnSpc>
                <a:spcPct val="145000"/>
              </a:lnSpc>
              <a:buSzPct val="100000"/>
              <a:buChar char="•"/>
            </a:pPr>
            <a:r>
              <a:rPr lang="en-US" sz="115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Cooperativas que miden varios predios.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" y="4864608"/>
            <a:ext cx="1112824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B02A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974336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Pendiente declarado: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proyecto se sustenta en investigación secundaria y modelación. Para confirmar demanda real está planificado encuestar 15–30 productores y entrevistar 3–5, midiendo método actual de decisión, dolor principal y disposición a pagar frente a los $249.990.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Dimensionamiento: TAM, SAM y SOM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 con fuente censal oficial (INE, 2021). SAM y SOM son estimaciones internas construidas sobre filtros comerciales declarados.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481328"/>
            <a:ext cx="7863840" cy="1078992"/>
          </a:xfrm>
          <a:prstGeom prst="roundRect">
            <a:avLst>
              <a:gd name="adj" fmla="val 5085"/>
            </a:avLst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934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103120" y="16093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175.556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3D6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UNIVERSO TEÓRICO TOTAL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41080" y="1627632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Explotaciones agrícolas censadas en Chile.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2706624"/>
            <a:ext cx="6309360" cy="1078992"/>
          </a:xfrm>
          <a:prstGeom prst="roundRect">
            <a:avLst>
              <a:gd name="adj" fmla="val 5085"/>
            </a:avLst>
          </a:prstGeom>
          <a:solidFill>
            <a:srgbClr val="8E1F1C"/>
          </a:solidFill>
          <a:ln w="12700">
            <a:solidFill>
              <a:srgbClr val="8E1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103120" y="28346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~120.000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3D6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SERVIBLE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41080" y="2852928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orientación comercial, acceso a internet móvil y cultivo de valor.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931920"/>
            <a:ext cx="4754880" cy="1078992"/>
          </a:xfrm>
          <a:prstGeom prst="roundRect">
            <a:avLst>
              <a:gd name="adj" fmla="val 5085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5993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03120" y="40599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2.550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3D6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ALCANZABLE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41080" y="4078224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Unidades acumuladas proyectadas a 5 años · 2,13 % del SAM.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521208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321808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Año 1: 200 unidades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0,17 % del SAM estimado.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521208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9050">
            <a:solidFill>
              <a:srgbClr val="B02A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5321808"/>
            <a:ext cx="4937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Lectura crítica: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200 ventas nacen del punto de equilibrio financiero, no de demanda comprometida.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Competencia y oportunidad de mercado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Precios referenciales de lista convertidos a CLP · consultar y fechar antes de exponer. No se afirma superioridad metrológica.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444752"/>
          <a:ext cx="11128248" cy="914400"/>
        </p:xfrm>
        <a:graphic>
          <a:graphicData uri="http://schemas.openxmlformats.org/drawingml/2006/table">
            <a:tbl>
              <a:tblPr/>
              <a:tblGrid>
                <a:gridCol w="4453128"/>
                <a:gridCol w="2377440"/>
                <a:gridCol w="155448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Alternativa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Precio referencial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Variables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¿Recomienda acción?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Hanna HI9814 (medidor portátil)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$269.010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Bluelab Pulse (medidor portátil)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$310.185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FieldScout TDR 350 (sonda de precisión)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$1.367.925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Análisis de laboratorio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$35.000 / muestra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12+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Parcial · 15 a 30 días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TerraSense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0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$249.990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 · en la aplicación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30352" y="41605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OPORTUNIDAD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30352" y="4453128"/>
            <a:ext cx="5440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 un espacio vacío entre el medidor que entrega datos crudos y el laboratorio exacto pero lento. TerraSense es el único de la tabla que entrega las dos cosas: medición inmediata y recomendación de manejo.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0" y="4160520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DIFERENCIADORES Y CANALES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17920" y="4453128"/>
            <a:ext cx="5440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Diferenciadores: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interpretación agronómica, uso sin conexión, georreferenciación, historial y cero suscripción.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Canales: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 directa (Año 1) → INDAP/PRODESAL (Año 2) → distribuidores de insumos (Año 3) → cooperativas (Año 4).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CRITERIO 1.1.5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Decisiones, riesgos y mitigaciones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444752"/>
          <a:ext cx="1112824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7880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Decisión o riesgo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Fundamento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Mitigación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A2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competir en exactitud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valor está en la frecuencia de medición y en la interpretación, no en el decimal.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Posicionar como complemento del laboratorio, no como reemplazo.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NPK estimado desde EC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conductividad no distingue todos los iones; en suelo salino puede leer "fértil".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Clase ordinal en vez de dosis, veto por salinidad sobre 1.000 µS/cm y aviso de baja confianza.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88,6 % del BOM en dólares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Componentes y sonda importados; el tipo de cambio golpea el costo unitario.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Compra por lotes fraccionados, proveedor alternativo calificado y stock de seguridad.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Precio tope de $249.990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 el techo estratégico para sostener la ventaja frente a los sustitutos.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hay palanca de precio: se protege margen controlando costo y volumen.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2A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ventas no validadas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7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 una meta financiera derivada del equilibrio, no demanda comprometida.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Piloto en terreno, entrevistas y preventas antes de comprometer la inversión.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" y="4443984"/>
            <a:ext cx="11128248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4544568"/>
            <a:ext cx="10607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propuesta está diferenciada y el modelo financiero se sostiene, pero sólo se confirma si usuarios reales valoran la aplicación y compran al precio propuesto.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4447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 en una economía de mercado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22392" y="144475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Compite por diferenciación bajo competencia monopolística, con precio libre y sustitutos reales.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costo de oportunidad está declarado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22392" y="20116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Renuncia a la exactitud analítica para ganar inmediatez, repetición e interpretación.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25786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Oferta y demanda están identificadas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22392" y="257860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oferta es sensible al dólar; la demanda crece con la urgencia hídrica y el costo de decidir sin datos.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" y="31455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31455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financiero se sostiene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22392" y="3145536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 de $2.588.182, TIR de 22,7 % y equilibrio en 166 unidades, con holgura moderada.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37124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37124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demanda aún debe validarse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22392" y="371246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200 unidades son meta financiera; el siguiente paso es el piloto con productores reales.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0352" y="4462272"/>
            <a:ext cx="11128248" cy="1024128"/>
          </a:xfrm>
          <a:prstGeom prst="roundRect">
            <a:avLst>
              <a:gd name="adj" fmla="val 5357"/>
            </a:avLst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572000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TerraSense no promete saber más que un laboratorio: promete ayudar a decidir mejor entre un análisis y el siguiente.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352" y="5669280"/>
            <a:ext cx="11128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 ·  PREGUNTAS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01000" y="274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ANEXO DE RESPALDO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30352" y="502920"/>
            <a:ext cx="11128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frecuentes de defensa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11128248" cy="32004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382512"/>
            <a:ext cx="10579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Diapositiva de respaldo: no se expone, se usa sólo si la pregunta aparece.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75720" y="6382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" y="1426464"/>
            <a:ext cx="544068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426464"/>
            <a:ext cx="45720" cy="1444752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54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comprarlo si es menos exacto?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88366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Cubren necesidades distintas. El laboratorio entrega precisión puntual; TerraSense permite monitoreo frecuente, alertas e interpretación. Son complementarios.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026664"/>
            <a:ext cx="544068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3026664"/>
            <a:ext cx="45720" cy="1444752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¿Realmente mide NPK?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48386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estimaciones derivadas de conductividad, no un análisis químico. Se informa al usuario, baja la confianza ante salinidad y se recomienda contraste periódico.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626864"/>
            <a:ext cx="544068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626864"/>
            <a:ext cx="45720" cy="1444752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754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¿De dónde salen las 200 ventas?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508406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la meta que supera el equilibrio de 166 unidades y equivale al 0,17 % del SAM estimado. No es demanda confirmada: debe validarse con piloto y preventas.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426464"/>
            <a:ext cx="544068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426464"/>
            <a:ext cx="45720" cy="1444752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554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$249.990?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37376" y="188366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 costo, margen y competencia. Ingreso neto $210.076, costo variable $91.309, margen $118.767. Es un techo estratégico, no un margen sobre costo.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26664"/>
            <a:ext cx="544068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026664"/>
            <a:ext cx="45720" cy="1444752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sube el dólar?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348386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88,6 % del BOM está expuesto. El modelo tolera cerca de +15 % de costo variable; se mitiga con lotes fraccionados y proveedores alternativos.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626864"/>
            <a:ext cx="544068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626864"/>
            <a:ext cx="45720" cy="1444752"/>
          </a:xfrm>
          <a:prstGeom prst="rect">
            <a:avLst/>
          </a:prstGeom>
          <a:solidFill>
            <a:srgbClr val="B02A26"/>
          </a:solidFill>
          <a:ln w="12700">
            <a:solidFill>
              <a:srgbClr val="B02A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4754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¿Es viable el proyecto?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37376" y="508406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2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Bajo sus supuestos sí: VAN $2.588.182 al 20 %, TIR 22,7 % y payback de 3,71 años. Es condicional, porque la holgura es moderada y faltan ventas reales.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INACAP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TerraSense - Comercializacion de Tecnologias</dc:title>
  <dc:subject>PptxGenJS Presentation</dc:subject>
  <dc:creator>Alvaro Villena - Alan Escobar</dc:creator>
  <cp:lastModifiedBy>Alvaro Villena - Alan Escobar</cp:lastModifiedBy>
  <cp:revision>1</cp:revision>
  <dcterms:created xsi:type="dcterms:W3CDTF">2026-09-02T02:52:06Z</dcterms:created>
  <dcterms:modified xsi:type="dcterms:W3CDTF">2026-09-02T02:52:06Z</dcterms:modified>
</cp:coreProperties>
</file>